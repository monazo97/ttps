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Override1.xml" ContentType="application/vnd.openxmlformats-officedocument.themeOverride+xml"/>
  <Override PartName="/ppt/theme/themeOverride2.xml" ContentType="application/vnd.openxmlformats-officedocument.themeOverride+xml"/>
  <Override PartName="/ppt/notesSlides/notesSlide1.xml" ContentType="application/vnd.openxmlformats-officedocument.presentationml.notesSlide+xml"/>
  <Override PartName="/ppt/theme/themeOverride3.xml" ContentType="application/vnd.openxmlformats-officedocument.themeOverride+xml"/>
  <Override PartName="/ppt/theme/themeOverride4.xml" ContentType="application/vnd.openxmlformats-officedocument.themeOverride+xml"/>
  <Override PartName="/ppt/theme/themeOverride5.xml" ContentType="application/vnd.openxmlformats-officedocument.themeOverride+xml"/>
  <Override PartName="/ppt/theme/themeOverride6.xml" ContentType="application/vnd.openxmlformats-officedocument.themeOverride+xml"/>
  <Override PartName="/ppt/theme/themeOverride7.xml" ContentType="application/vnd.openxmlformats-officedocument.themeOverride+xml"/>
  <Override PartName="/ppt/theme/themeOverride8.xml" ContentType="application/vnd.openxmlformats-officedocument.themeOverride+xml"/>
  <Override PartName="/ppt/theme/themeOverride9.xml" ContentType="application/vnd.openxmlformats-officedocument.themeOverride+xml"/>
  <Override PartName="/ppt/theme/themeOverride10.xml" ContentType="application/vnd.openxmlformats-officedocument.themeOverride+xml"/>
  <Override PartName="/ppt/theme/themeOverride11.xml" ContentType="application/vnd.openxmlformats-officedocument.themeOverride+xml"/>
  <Override PartName="/ppt/theme/themeOverride12.xml" ContentType="application/vnd.openxmlformats-officedocument.themeOverride+xml"/>
  <Override PartName="/ppt/theme/themeOverride13.xml" ContentType="application/vnd.openxmlformats-officedocument.themeOverride+xml"/>
  <Override PartName="/ppt/theme/themeOverride14.xml" ContentType="application/vnd.openxmlformats-officedocument.themeOverride+xml"/>
  <Override PartName="/ppt/notesSlides/notesSlide2.xml" ContentType="application/vnd.openxmlformats-officedocument.presentationml.notesSlide+xml"/>
  <Override PartName="/ppt/theme/themeOverride15.xml" ContentType="application/vnd.openxmlformats-officedocument.themeOverride+xml"/>
  <Override PartName="/ppt/notesSlides/notesSlide3.xml" ContentType="application/vnd.openxmlformats-officedocument.presentationml.notesSlide+xml"/>
  <Override PartName="/ppt/theme/themeOverride16.xml" ContentType="application/vnd.openxmlformats-officedocument.themeOverride+xml"/>
  <Override PartName="/ppt/notesSlides/notesSlide4.xml" ContentType="application/vnd.openxmlformats-officedocument.presentationml.notesSlide+xml"/>
  <Override PartName="/ppt/theme/themeOverride17.xml" ContentType="application/vnd.openxmlformats-officedocument.themeOverride+xml"/>
  <Override PartName="/ppt/notesSlides/notesSlide5.xml" ContentType="application/vnd.openxmlformats-officedocument.presentationml.notesSlide+xml"/>
  <Override PartName="/ppt/theme/themeOverride18.xml" ContentType="application/vnd.openxmlformats-officedocument.themeOverride+xml"/>
  <Override PartName="/ppt/notesSlides/notesSlide6.xml" ContentType="application/vnd.openxmlformats-officedocument.presentationml.notesSlide+xml"/>
  <Override PartName="/ppt/theme/themeOverride19.xml" ContentType="application/vnd.openxmlformats-officedocument.themeOverride+xml"/>
  <Override PartName="/ppt/notesSlides/notesSlide7.xml" ContentType="application/vnd.openxmlformats-officedocument.presentationml.notesSlide+xml"/>
  <Override PartName="/ppt/theme/themeOverride20.xml" ContentType="application/vnd.openxmlformats-officedocument.themeOverride+xml"/>
  <Override PartName="/ppt/notesSlides/notesSlide8.xml" ContentType="application/vnd.openxmlformats-officedocument.presentationml.notesSlide+xml"/>
  <Override PartName="/ppt/theme/themeOverride21.xml" ContentType="application/vnd.openxmlformats-officedocument.themeOverride+xml"/>
  <Override PartName="/ppt/notesSlides/notesSlide9.xml" ContentType="application/vnd.openxmlformats-officedocument.presentationml.notesSlide+xml"/>
  <Override PartName="/ppt/theme/themeOverride22.xml" ContentType="application/vnd.openxmlformats-officedocument.themeOverride+xml"/>
  <Override PartName="/ppt/notesSlides/notesSlide10.xml" ContentType="application/vnd.openxmlformats-officedocument.presentationml.notesSlide+xml"/>
  <Override PartName="/ppt/theme/themeOverride23.xml" ContentType="application/vnd.openxmlformats-officedocument.themeOverride+xml"/>
  <Override PartName="/ppt/notesSlides/notesSlide11.xml" ContentType="application/vnd.openxmlformats-officedocument.presentationml.notesSlide+xml"/>
  <Override PartName="/ppt/theme/themeOverride24.xml" ContentType="application/vnd.openxmlformats-officedocument.themeOverride+xml"/>
  <Override PartName="/ppt/notesSlides/notesSlide12.xml" ContentType="application/vnd.openxmlformats-officedocument.presentationml.notesSlide+xml"/>
  <Override PartName="/ppt/theme/themeOverride25.xml" ContentType="application/vnd.openxmlformats-officedocument.themeOverride+xml"/>
  <Override PartName="/ppt/notesSlides/notesSlide13.xml" ContentType="application/vnd.openxmlformats-officedocument.presentationml.notesSlide+xml"/>
  <Override PartName="/ppt/theme/themeOverride26.xml" ContentType="application/vnd.openxmlformats-officedocument.themeOverride+xml"/>
  <Override PartName="/ppt/notesSlides/notesSlide14.xml" ContentType="application/vnd.openxmlformats-officedocument.presentationml.notesSlide+xml"/>
  <Override PartName="/ppt/theme/themeOverride27.xml" ContentType="application/vnd.openxmlformats-officedocument.themeOverride+xml"/>
  <Override PartName="/ppt/notesSlides/notesSlide15.xml" ContentType="application/vnd.openxmlformats-officedocument.presentationml.notesSlide+xml"/>
  <Override PartName="/ppt/theme/themeOverride28.xml" ContentType="application/vnd.openxmlformats-officedocument.themeOverr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57" r:id="rId3"/>
    <p:sldId id="258" r:id="rId4"/>
    <p:sldId id="259"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2" r:id="rId27"/>
    <p:sldId id="283" r:id="rId28"/>
    <p:sldId id="284" r:id="rId29"/>
    <p:sldId id="285" r:id="rId30"/>
    <p:sldId id="286" r:id="rId31"/>
    <p:sldId id="287"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329" autoAdjust="0"/>
    <p:restoredTop sz="94660"/>
  </p:normalViewPr>
  <p:slideViewPr>
    <p:cSldViewPr snapToGrid="0">
      <p:cViewPr varScale="1">
        <p:scale>
          <a:sx n="103" d="100"/>
          <a:sy n="103" d="100"/>
        </p:scale>
        <p:origin x="120" y="1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0FD7B67-794B-419E-BA98-9E288701BCE8}" type="datetimeFigureOut">
              <a:rPr lang="en-US" smtClean="0"/>
              <a:t>9/22/2025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D7D5B5B-2D87-4367-B4BD-A7E797F17A4F}" type="slidenum">
              <a:rPr lang="en-US" smtClean="0"/>
              <a:t>‹#›</a:t>
            </a:fld>
            <a:endParaRPr lang="en-US"/>
          </a:p>
        </p:txBody>
      </p:sp>
    </p:spTree>
    <p:extLst>
      <p:ext uri="{BB962C8B-B14F-4D97-AF65-F5344CB8AC3E}">
        <p14:creationId xmlns:p14="http://schemas.microsoft.com/office/powerpoint/2010/main" val="278415530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D7D5B5B-2D87-4367-B4BD-A7E797F17A4F}" type="slidenum">
              <a:rPr lang="en-US" smtClean="0"/>
              <a:t>4</a:t>
            </a:fld>
            <a:endParaRPr lang="en-US"/>
          </a:p>
        </p:txBody>
      </p:sp>
    </p:spTree>
    <p:extLst>
      <p:ext uri="{BB962C8B-B14F-4D97-AF65-F5344CB8AC3E}">
        <p14:creationId xmlns:p14="http://schemas.microsoft.com/office/powerpoint/2010/main" val="55322771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F4DB62-8729-3487-91DC-9688215ED3E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92556-BB84-440A-69D5-BB3D11DC91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2271DC0-16B4-1EB4-66BF-C18C56A2DB2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A8DB48-8F1E-E274-99DC-D7DC91465522}"/>
              </a:ext>
            </a:extLst>
          </p:cNvPr>
          <p:cNvSpPr>
            <a:spLocks noGrp="1"/>
          </p:cNvSpPr>
          <p:nvPr>
            <p:ph type="sldNum" sz="quarter" idx="5"/>
          </p:nvPr>
        </p:nvSpPr>
        <p:spPr/>
        <p:txBody>
          <a:bodyPr/>
          <a:lstStyle/>
          <a:p>
            <a:fld id="{FD7D5B5B-2D87-4367-B4BD-A7E797F17A4F}" type="slidenum">
              <a:rPr lang="en-US" smtClean="0"/>
              <a:t>16</a:t>
            </a:fld>
            <a:endParaRPr lang="en-US"/>
          </a:p>
        </p:txBody>
      </p:sp>
    </p:spTree>
    <p:extLst>
      <p:ext uri="{BB962C8B-B14F-4D97-AF65-F5344CB8AC3E}">
        <p14:creationId xmlns:p14="http://schemas.microsoft.com/office/powerpoint/2010/main" val="233861504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57B8ED-D8B7-C39B-D50C-73D755E50CC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E652BC1-09D7-FFCA-170B-1D6E44AC659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F6F8B7-AD1C-1E83-F182-322F564A996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2567F1B-71BC-2065-040A-E56D32ABF3FA}"/>
              </a:ext>
            </a:extLst>
          </p:cNvPr>
          <p:cNvSpPr>
            <a:spLocks noGrp="1"/>
          </p:cNvSpPr>
          <p:nvPr>
            <p:ph type="sldNum" sz="quarter" idx="5"/>
          </p:nvPr>
        </p:nvSpPr>
        <p:spPr/>
        <p:txBody>
          <a:bodyPr/>
          <a:lstStyle/>
          <a:p>
            <a:fld id="{FD7D5B5B-2D87-4367-B4BD-A7E797F17A4F}" type="slidenum">
              <a:rPr lang="en-US" smtClean="0"/>
              <a:t>17</a:t>
            </a:fld>
            <a:endParaRPr lang="en-US"/>
          </a:p>
        </p:txBody>
      </p:sp>
    </p:spTree>
    <p:extLst>
      <p:ext uri="{BB962C8B-B14F-4D97-AF65-F5344CB8AC3E}">
        <p14:creationId xmlns:p14="http://schemas.microsoft.com/office/powerpoint/2010/main" val="211761029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70A9AF-DBA6-AE31-02D7-8F72166A2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280C97-2A56-0587-B6AE-34C902F9EBC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F1F31BD-AD07-3769-7E9F-A3B9363427B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BD2873-F37D-D0ED-5BD5-89DE884BCA42}"/>
              </a:ext>
            </a:extLst>
          </p:cNvPr>
          <p:cNvSpPr>
            <a:spLocks noGrp="1"/>
          </p:cNvSpPr>
          <p:nvPr>
            <p:ph type="sldNum" sz="quarter" idx="5"/>
          </p:nvPr>
        </p:nvSpPr>
        <p:spPr/>
        <p:txBody>
          <a:bodyPr/>
          <a:lstStyle/>
          <a:p>
            <a:fld id="{FD7D5B5B-2D87-4367-B4BD-A7E797F17A4F}" type="slidenum">
              <a:rPr lang="en-US" smtClean="0"/>
              <a:t>18</a:t>
            </a:fld>
            <a:endParaRPr lang="en-US"/>
          </a:p>
        </p:txBody>
      </p:sp>
    </p:spTree>
    <p:extLst>
      <p:ext uri="{BB962C8B-B14F-4D97-AF65-F5344CB8AC3E}">
        <p14:creationId xmlns:p14="http://schemas.microsoft.com/office/powerpoint/2010/main" val="17136382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7ED60B-FBB1-2FC9-F849-4A0F2A3071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0E7FB6B-4DD0-CD3C-BF7E-B0786B3BC6A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7061E60-DA79-B400-E1F0-7F9C447ACE5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256C94B-B0E1-6C72-D25E-725C36DEDE58}"/>
              </a:ext>
            </a:extLst>
          </p:cNvPr>
          <p:cNvSpPr>
            <a:spLocks noGrp="1"/>
          </p:cNvSpPr>
          <p:nvPr>
            <p:ph type="sldNum" sz="quarter" idx="5"/>
          </p:nvPr>
        </p:nvSpPr>
        <p:spPr/>
        <p:txBody>
          <a:bodyPr/>
          <a:lstStyle/>
          <a:p>
            <a:fld id="{FD7D5B5B-2D87-4367-B4BD-A7E797F17A4F}" type="slidenum">
              <a:rPr lang="en-US" smtClean="0"/>
              <a:t>19</a:t>
            </a:fld>
            <a:endParaRPr lang="en-US"/>
          </a:p>
        </p:txBody>
      </p:sp>
    </p:spTree>
    <p:extLst>
      <p:ext uri="{BB962C8B-B14F-4D97-AF65-F5344CB8AC3E}">
        <p14:creationId xmlns:p14="http://schemas.microsoft.com/office/powerpoint/2010/main" val="353108315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DA4B4B-9696-7332-BA42-281DC7B503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AF32EFC-426A-EB0A-0B79-9D91DE21FB1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885661-62B5-C3A8-99AD-06473195188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F894813-C33B-9ECE-0309-CA8B830E26D7}"/>
              </a:ext>
            </a:extLst>
          </p:cNvPr>
          <p:cNvSpPr>
            <a:spLocks noGrp="1"/>
          </p:cNvSpPr>
          <p:nvPr>
            <p:ph type="sldNum" sz="quarter" idx="5"/>
          </p:nvPr>
        </p:nvSpPr>
        <p:spPr/>
        <p:txBody>
          <a:bodyPr/>
          <a:lstStyle/>
          <a:p>
            <a:fld id="{FD7D5B5B-2D87-4367-B4BD-A7E797F17A4F}" type="slidenum">
              <a:rPr lang="en-US" smtClean="0"/>
              <a:t>20</a:t>
            </a:fld>
            <a:endParaRPr lang="en-US"/>
          </a:p>
        </p:txBody>
      </p:sp>
    </p:spTree>
    <p:extLst>
      <p:ext uri="{BB962C8B-B14F-4D97-AF65-F5344CB8AC3E}">
        <p14:creationId xmlns:p14="http://schemas.microsoft.com/office/powerpoint/2010/main" val="82267612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82FCE9-FECC-1E6B-88F0-855BFEA69EA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F207A4-BC64-B493-4E37-4A855ADE06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B246506-5DEF-CA38-7844-E3CCB1F98D9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5B561FE-8D78-38CA-9117-4675719439EB}"/>
              </a:ext>
            </a:extLst>
          </p:cNvPr>
          <p:cNvSpPr>
            <a:spLocks noGrp="1"/>
          </p:cNvSpPr>
          <p:nvPr>
            <p:ph type="sldNum" sz="quarter" idx="5"/>
          </p:nvPr>
        </p:nvSpPr>
        <p:spPr/>
        <p:txBody>
          <a:bodyPr/>
          <a:lstStyle/>
          <a:p>
            <a:fld id="{FD7D5B5B-2D87-4367-B4BD-A7E797F17A4F}" type="slidenum">
              <a:rPr lang="en-US" smtClean="0"/>
              <a:t>21</a:t>
            </a:fld>
            <a:endParaRPr lang="en-US"/>
          </a:p>
        </p:txBody>
      </p:sp>
    </p:spTree>
    <p:extLst>
      <p:ext uri="{BB962C8B-B14F-4D97-AF65-F5344CB8AC3E}">
        <p14:creationId xmlns:p14="http://schemas.microsoft.com/office/powerpoint/2010/main" val="23544885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5772C-5327-5A16-825E-EDB688D390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D34C6A-AF68-1780-1F54-8CD991A874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65C404-5895-CCF2-BF56-D9D49486CF9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CD08B4C-C3B5-940E-30F5-C037DCF10D24}"/>
              </a:ext>
            </a:extLst>
          </p:cNvPr>
          <p:cNvSpPr>
            <a:spLocks noGrp="1"/>
          </p:cNvSpPr>
          <p:nvPr>
            <p:ph type="sldNum" sz="quarter" idx="5"/>
          </p:nvPr>
        </p:nvSpPr>
        <p:spPr/>
        <p:txBody>
          <a:bodyPr/>
          <a:lstStyle/>
          <a:p>
            <a:fld id="{FD7D5B5B-2D87-4367-B4BD-A7E797F17A4F}" type="slidenum">
              <a:rPr lang="en-US" smtClean="0"/>
              <a:t>22</a:t>
            </a:fld>
            <a:endParaRPr lang="en-US"/>
          </a:p>
        </p:txBody>
      </p:sp>
    </p:spTree>
    <p:extLst>
      <p:ext uri="{BB962C8B-B14F-4D97-AF65-F5344CB8AC3E}">
        <p14:creationId xmlns:p14="http://schemas.microsoft.com/office/powerpoint/2010/main" val="65848496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2E7FE7-C079-32C0-A15F-77B65A9E75D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813893F-4D52-6409-5A7F-11D2BCBD8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D6EDA58-645F-AF29-2875-5910E992BDB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48D0F4-E5C5-40AC-968E-9DE6A11FEEC6}"/>
              </a:ext>
            </a:extLst>
          </p:cNvPr>
          <p:cNvSpPr>
            <a:spLocks noGrp="1"/>
          </p:cNvSpPr>
          <p:nvPr>
            <p:ph type="sldNum" sz="quarter" idx="5"/>
          </p:nvPr>
        </p:nvSpPr>
        <p:spPr/>
        <p:txBody>
          <a:bodyPr/>
          <a:lstStyle/>
          <a:p>
            <a:fld id="{FD7D5B5B-2D87-4367-B4BD-A7E797F17A4F}" type="slidenum">
              <a:rPr lang="en-US" smtClean="0"/>
              <a:t>23</a:t>
            </a:fld>
            <a:endParaRPr lang="en-US"/>
          </a:p>
        </p:txBody>
      </p:sp>
    </p:spTree>
    <p:extLst>
      <p:ext uri="{BB962C8B-B14F-4D97-AF65-F5344CB8AC3E}">
        <p14:creationId xmlns:p14="http://schemas.microsoft.com/office/powerpoint/2010/main" val="298447685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D0D314A-D433-852D-71B7-9111DC5608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988BA8-D8FF-EBEA-1676-03524B8BCE7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B3117E-91A5-D1EC-0EC8-7821732FB6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82F157C-0B54-39EA-C653-3FB2FC66B67B}"/>
              </a:ext>
            </a:extLst>
          </p:cNvPr>
          <p:cNvSpPr>
            <a:spLocks noGrp="1"/>
          </p:cNvSpPr>
          <p:nvPr>
            <p:ph type="sldNum" sz="quarter" idx="5"/>
          </p:nvPr>
        </p:nvSpPr>
        <p:spPr/>
        <p:txBody>
          <a:bodyPr/>
          <a:lstStyle/>
          <a:p>
            <a:fld id="{FD7D5B5B-2D87-4367-B4BD-A7E797F17A4F}" type="slidenum">
              <a:rPr lang="en-US" smtClean="0"/>
              <a:t>24</a:t>
            </a:fld>
            <a:endParaRPr lang="en-US"/>
          </a:p>
        </p:txBody>
      </p:sp>
    </p:spTree>
    <p:extLst>
      <p:ext uri="{BB962C8B-B14F-4D97-AF65-F5344CB8AC3E}">
        <p14:creationId xmlns:p14="http://schemas.microsoft.com/office/powerpoint/2010/main" val="83197731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8ABB73-6F4F-7418-259A-C236B536444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A0621D0-0E62-B262-412B-845F2C463B5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D7BCB76-7695-ADDB-A153-788FB9605AC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405568-9E8B-CA9C-D78D-14432ED1979D}"/>
              </a:ext>
            </a:extLst>
          </p:cNvPr>
          <p:cNvSpPr>
            <a:spLocks noGrp="1"/>
          </p:cNvSpPr>
          <p:nvPr>
            <p:ph type="sldNum" sz="quarter" idx="5"/>
          </p:nvPr>
        </p:nvSpPr>
        <p:spPr/>
        <p:txBody>
          <a:bodyPr/>
          <a:lstStyle/>
          <a:p>
            <a:fld id="{FD7D5B5B-2D87-4367-B4BD-A7E797F17A4F}" type="slidenum">
              <a:rPr lang="en-US" smtClean="0"/>
              <a:t>26</a:t>
            </a:fld>
            <a:endParaRPr lang="en-US"/>
          </a:p>
        </p:txBody>
      </p:sp>
    </p:spTree>
    <p:extLst>
      <p:ext uri="{BB962C8B-B14F-4D97-AF65-F5344CB8AC3E}">
        <p14:creationId xmlns:p14="http://schemas.microsoft.com/office/powerpoint/2010/main" val="19893070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57FFDC-7039-BFD3-B813-6C38DFC2FF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DFEDC10-18BB-844A-8C75-341E96E9034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F253CDB-69B6-1F6D-0F18-EED96B1B2D1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ADD4F2D-D530-193B-0222-39C09E65D8AF}"/>
              </a:ext>
            </a:extLst>
          </p:cNvPr>
          <p:cNvSpPr>
            <a:spLocks noGrp="1"/>
          </p:cNvSpPr>
          <p:nvPr>
            <p:ph type="sldNum" sz="quarter" idx="5"/>
          </p:nvPr>
        </p:nvSpPr>
        <p:spPr/>
        <p:txBody>
          <a:bodyPr/>
          <a:lstStyle/>
          <a:p>
            <a:fld id="{FD7D5B5B-2D87-4367-B4BD-A7E797F17A4F}" type="slidenum">
              <a:rPr lang="en-US" smtClean="0"/>
              <a:t>27</a:t>
            </a:fld>
            <a:endParaRPr lang="en-US"/>
          </a:p>
        </p:txBody>
      </p:sp>
    </p:spTree>
    <p:extLst>
      <p:ext uri="{BB962C8B-B14F-4D97-AF65-F5344CB8AC3E}">
        <p14:creationId xmlns:p14="http://schemas.microsoft.com/office/powerpoint/2010/main" val="121093412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2BEFD8-889B-5B40-2EEF-3FF580125C3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CA3A80E-58B8-A7F5-3CC7-FA06E8B18E3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12E4D5E-1E7B-9A22-07E5-F5A7080798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8D10C8-394F-277E-C8C3-F5C535D4C549}"/>
              </a:ext>
            </a:extLst>
          </p:cNvPr>
          <p:cNvSpPr>
            <a:spLocks noGrp="1"/>
          </p:cNvSpPr>
          <p:nvPr>
            <p:ph type="sldNum" sz="quarter" idx="5"/>
          </p:nvPr>
        </p:nvSpPr>
        <p:spPr/>
        <p:txBody>
          <a:bodyPr/>
          <a:lstStyle/>
          <a:p>
            <a:fld id="{FD7D5B5B-2D87-4367-B4BD-A7E797F17A4F}" type="slidenum">
              <a:rPr lang="en-US" smtClean="0"/>
              <a:t>28</a:t>
            </a:fld>
            <a:endParaRPr lang="en-US"/>
          </a:p>
        </p:txBody>
      </p:sp>
    </p:spTree>
    <p:extLst>
      <p:ext uri="{BB962C8B-B14F-4D97-AF65-F5344CB8AC3E}">
        <p14:creationId xmlns:p14="http://schemas.microsoft.com/office/powerpoint/2010/main" val="28750969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3AE0D0-6F6E-D076-0068-51DCA0AAE94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FA22DB-A35B-426C-B1DD-192D3F368FC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470EBF1-BDA6-E32A-82A8-9370CE6B78B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4C1A6B3-AD31-A39D-0C5D-CFCE8B61CA26}"/>
              </a:ext>
            </a:extLst>
          </p:cNvPr>
          <p:cNvSpPr>
            <a:spLocks noGrp="1"/>
          </p:cNvSpPr>
          <p:nvPr>
            <p:ph type="sldNum" sz="quarter" idx="5"/>
          </p:nvPr>
        </p:nvSpPr>
        <p:spPr/>
        <p:txBody>
          <a:bodyPr/>
          <a:lstStyle/>
          <a:p>
            <a:fld id="{FD7D5B5B-2D87-4367-B4BD-A7E797F17A4F}" type="slidenum">
              <a:rPr lang="en-US" smtClean="0"/>
              <a:t>29</a:t>
            </a:fld>
            <a:endParaRPr lang="en-US"/>
          </a:p>
        </p:txBody>
      </p:sp>
    </p:spTree>
    <p:extLst>
      <p:ext uri="{BB962C8B-B14F-4D97-AF65-F5344CB8AC3E}">
        <p14:creationId xmlns:p14="http://schemas.microsoft.com/office/powerpoint/2010/main" val="307889805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37932-08A6-D361-CBE2-A1EF23C778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F826AB1-3146-92CB-A819-BBE34DC051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702DEF3-97FC-A06F-14BC-F7E6E0066B6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074AB7F0-6635-C461-F57A-67AE0427FB49}"/>
              </a:ext>
            </a:extLst>
          </p:cNvPr>
          <p:cNvSpPr>
            <a:spLocks noGrp="1"/>
          </p:cNvSpPr>
          <p:nvPr>
            <p:ph type="sldNum" sz="quarter" idx="5"/>
          </p:nvPr>
        </p:nvSpPr>
        <p:spPr/>
        <p:txBody>
          <a:bodyPr/>
          <a:lstStyle/>
          <a:p>
            <a:fld id="{FD7D5B5B-2D87-4367-B4BD-A7E797F17A4F}" type="slidenum">
              <a:rPr lang="en-US" smtClean="0"/>
              <a:t>30</a:t>
            </a:fld>
            <a:endParaRPr lang="en-US"/>
          </a:p>
        </p:txBody>
      </p:sp>
    </p:spTree>
    <p:extLst>
      <p:ext uri="{BB962C8B-B14F-4D97-AF65-F5344CB8AC3E}">
        <p14:creationId xmlns:p14="http://schemas.microsoft.com/office/powerpoint/2010/main" val="952645454"/>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0A8C6F-8AB4-1150-175F-203749BCC3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78E626-2082-A8FC-CC75-716C75D0DC8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D7726A1-7B4E-44B1-4B31-3555C46CABA6}"/>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09D84B9-A1C0-52A7-09BE-DCA351D32E82}"/>
              </a:ext>
            </a:extLst>
          </p:cNvPr>
          <p:cNvSpPr>
            <a:spLocks noGrp="1"/>
          </p:cNvSpPr>
          <p:nvPr>
            <p:ph type="sldNum" sz="quarter" idx="5"/>
          </p:nvPr>
        </p:nvSpPr>
        <p:spPr/>
        <p:txBody>
          <a:bodyPr/>
          <a:lstStyle/>
          <a:p>
            <a:fld id="{FD7D5B5B-2D87-4367-B4BD-A7E797F17A4F}" type="slidenum">
              <a:rPr lang="en-US" smtClean="0"/>
              <a:t>31</a:t>
            </a:fld>
            <a:endParaRPr lang="en-US"/>
          </a:p>
        </p:txBody>
      </p:sp>
    </p:spTree>
    <p:extLst>
      <p:ext uri="{BB962C8B-B14F-4D97-AF65-F5344CB8AC3E}">
        <p14:creationId xmlns:p14="http://schemas.microsoft.com/office/powerpoint/2010/main" val="349147357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284630-E89B-B070-0A48-AC7F1ABF61D6}"/>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FA09FF39-4882-6289-8593-79C7C70A356C}"/>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4903F937-9437-935A-F072-5731101F6564}"/>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37B3DE49-90BA-862D-4657-8EADEB4E007E}"/>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390A37-A2AE-EEB1-A469-201A20381479}"/>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21569787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15367A-7D45-D29E-59F6-FDF00C3D85E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C7667E1D-48AF-5D9A-E4A8-8E433039807C}"/>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F6E36E5-58E6-328A-FF59-2EAD9E83C540}"/>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812404E7-41A4-74CE-9BAD-58B2284D12F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E3E6FE4-3B1E-C8FE-BDA4-33E6535DCED5}"/>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270784824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ED7F9F3-ECEA-029A-F452-2830E893BBA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2FF052B2-1135-8D0C-F626-F00498B4739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E65A4FA-9C13-97F7-ABEF-4511F16D14C2}"/>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D0484766-4C4F-27CC-66EC-42F6FCAEBAE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536EF00B-536F-2E50-261B-01FDDDD8E251}"/>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2394760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957810E-B36F-7443-6B00-C2548B9D8C11}"/>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BD614CA8-CD33-8497-9560-F47D2583EF1A}"/>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6D5B0C64-354B-67A0-53B7-3FBAF71E2E0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B0F0515C-7EFB-6779-ABD5-A69AA7E28C69}"/>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6" name="Footer Placeholder 5">
            <a:extLst>
              <a:ext uri="{FF2B5EF4-FFF2-40B4-BE49-F238E27FC236}">
                <a16:creationId xmlns:a16="http://schemas.microsoft.com/office/drawing/2014/main" id="{455280A3-5484-932D-1BF2-99C55A83DB4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564B24-9543-BB72-4E61-87F62DC3BAD4}"/>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408383928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B28AC1-09E0-4818-643F-B9E100461E9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C16C14D8-FEA1-2282-8FED-29CBB2A2C28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A307D03-FA3D-5070-AE31-FC99C2DB1E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66F1C20D-8168-0B71-0EC5-67DE7074EC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E046A9D-C554-FA73-2925-116799DD3409}"/>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53AE2C8-0959-FEA6-A3C2-A0B4C03BED3F}"/>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8" name="Footer Placeholder 7">
            <a:extLst>
              <a:ext uri="{FF2B5EF4-FFF2-40B4-BE49-F238E27FC236}">
                <a16:creationId xmlns:a16="http://schemas.microsoft.com/office/drawing/2014/main" id="{BD43310B-813F-B918-7212-A4DAACA18EC0}"/>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A9C360E3-C2D9-D2C4-DC69-02406A327168}"/>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4646975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F4E4B1-54AC-8EB0-B76D-D1E580F96F4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DC9BF615-BC87-80CB-3D56-5EBE5CB1D6CF}"/>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4" name="Footer Placeholder 3">
            <a:extLst>
              <a:ext uri="{FF2B5EF4-FFF2-40B4-BE49-F238E27FC236}">
                <a16:creationId xmlns:a16="http://schemas.microsoft.com/office/drawing/2014/main" id="{0ACD296A-4761-4625-0557-EFCA74BAC94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6160180F-DE90-4E10-CBEB-58A9D9D2B41D}"/>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27677133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177FCD0-7D52-4D16-2B21-248131E55882}"/>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3" name="Footer Placeholder 2">
            <a:extLst>
              <a:ext uri="{FF2B5EF4-FFF2-40B4-BE49-F238E27FC236}">
                <a16:creationId xmlns:a16="http://schemas.microsoft.com/office/drawing/2014/main" id="{F9AF4A4E-CECD-8469-E4A6-1763E0667570}"/>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82C50A4-B16E-1A5F-6486-A60BFA40CD91}"/>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31515705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E7ADA6-CAE3-C11A-FB19-877AB182DBB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3AC6D349-769A-7AB6-FFB9-CC1D630E380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2C1D909-C66B-697A-EF8E-B57BE48D3D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AFCF976-41F9-409E-54CF-C10AC063FEB6}"/>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6" name="Footer Placeholder 5">
            <a:extLst>
              <a:ext uri="{FF2B5EF4-FFF2-40B4-BE49-F238E27FC236}">
                <a16:creationId xmlns:a16="http://schemas.microsoft.com/office/drawing/2014/main" id="{B62CDA9E-759F-9698-15F2-7185357E0B6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C836F05-6609-3F03-EE61-117FBC055EA0}"/>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18267842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7CEC6B-6913-D174-06B3-AEA21A1CBB8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47F89697-22CF-45E5-7447-4AAD15A1FAF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B470DAE0-CB32-7035-7318-AB179D9802E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0B4A086-FE38-0908-A7D4-F9D4F3F3465D}"/>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6" name="Footer Placeholder 5">
            <a:extLst>
              <a:ext uri="{FF2B5EF4-FFF2-40B4-BE49-F238E27FC236}">
                <a16:creationId xmlns:a16="http://schemas.microsoft.com/office/drawing/2014/main" id="{635C3B4D-8EFB-FE1B-E36C-7C82C6D17F1C}"/>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92AAFCF-3EC2-4799-0350-2C67D04D63BC}"/>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39212916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83B810-B38F-0816-2634-4437D7D6F871}"/>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A7867D9E-8489-6CA3-04FF-AA48A4EBCCBF}"/>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3714248-ECC3-98AE-0F9B-D09920B2B27C}"/>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101F2E70-95FF-959C-7EE9-E953CE88577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69FFAD81-EAC6-43DC-224D-3E6F2D29CD9A}"/>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254963182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E55A6AE0-C1B9-9EC2-1E7F-D983BA6E9E94}"/>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A0AB4C11-4563-8A7F-424A-E3576DCC16E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5FD46948-9BCF-85BC-E390-CEACCDA89BE8}"/>
              </a:ext>
            </a:extLst>
          </p:cNvPr>
          <p:cNvSpPr>
            <a:spLocks noGrp="1"/>
          </p:cNvSpPr>
          <p:nvPr>
            <p:ph type="dt" sz="half" idx="10"/>
          </p:nvPr>
        </p:nvSpPr>
        <p:spPr/>
        <p:txBody>
          <a:body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C392A236-4DC0-3731-5113-00407CA418D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C0480E7B-5889-E754-0C98-C26FADC10DDC}"/>
              </a:ext>
            </a:extLst>
          </p:cNvPr>
          <p:cNvSpPr>
            <a:spLocks noGrp="1"/>
          </p:cNvSpPr>
          <p:nvPr>
            <p:ph type="sldNum" sz="quarter" idx="12"/>
          </p:nvPr>
        </p:nvSpPr>
        <p:spPr/>
        <p:txBody>
          <a:bodyPr/>
          <a:lstStyle/>
          <a:p>
            <a:fld id="{D2FF7788-DFA5-404B-BA37-8A94629D507F}" type="slidenum">
              <a:rPr lang="en-US" smtClean="0"/>
              <a:t>‹#›</a:t>
            </a:fld>
            <a:endParaRPr lang="en-US"/>
          </a:p>
        </p:txBody>
      </p:sp>
    </p:spTree>
    <p:extLst>
      <p:ext uri="{BB962C8B-B14F-4D97-AF65-F5344CB8AC3E}">
        <p14:creationId xmlns:p14="http://schemas.microsoft.com/office/powerpoint/2010/main" val="378552073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A0B29281-990E-B94D-B7B4-DDB49D5E6F1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23CF4583-8CEB-2F0E-8D0F-68FAA83399C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E35E22B-1547-0153-4833-64EC533D8F2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B58A391C-6998-48D4-A048-4E8BFA0056DE}" type="datetimeFigureOut">
              <a:rPr lang="en-US" smtClean="0"/>
              <a:t>9/22/2025</a:t>
            </a:fld>
            <a:endParaRPr lang="en-US"/>
          </a:p>
        </p:txBody>
      </p:sp>
      <p:sp>
        <p:nvSpPr>
          <p:cNvPr id="5" name="Footer Placeholder 4">
            <a:extLst>
              <a:ext uri="{FF2B5EF4-FFF2-40B4-BE49-F238E27FC236}">
                <a16:creationId xmlns:a16="http://schemas.microsoft.com/office/drawing/2014/main" id="{29B2E7DC-E9BC-F22E-4F84-1300688C08C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7F92D9A1-8446-3E2A-B609-4C56B7FCA0A3}"/>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2FF7788-DFA5-404B-BA37-8A94629D507F}" type="slidenum">
              <a:rPr lang="en-US" smtClean="0"/>
              <a:t>‹#›</a:t>
            </a:fld>
            <a:endParaRPr lang="en-US"/>
          </a:p>
        </p:txBody>
      </p:sp>
    </p:spTree>
    <p:extLst>
      <p:ext uri="{BB962C8B-B14F-4D97-AF65-F5344CB8AC3E}">
        <p14:creationId xmlns:p14="http://schemas.microsoft.com/office/powerpoint/2010/main" val="36902961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1.xml"/></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2.xml"/><Relationship Id="rId1" Type="http://schemas.openxmlformats.org/officeDocument/2006/relationships/themeOverride" Target="../theme/themeOverride2.xml"/></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themeOverride" Target="../theme/themeOverride3.xml"/></Relationships>
</file>

<file path=ppt/slides/_rels/slide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hemeOverride" Target="../theme/themeOverride4.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slideLayout" Target="../slideLayouts/slideLayout2.xml"/><Relationship Id="rId1" Type="http://schemas.openxmlformats.org/officeDocument/2006/relationships/themeOverride" Target="../theme/themeOverride5.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slideLayout" Target="../slideLayouts/slideLayout2.xml"/><Relationship Id="rId1" Type="http://schemas.openxmlformats.org/officeDocument/2006/relationships/themeOverride" Target="../theme/themeOverride6.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slideLayout" Target="../slideLayouts/slideLayout2.xml"/><Relationship Id="rId1" Type="http://schemas.openxmlformats.org/officeDocument/2006/relationships/themeOverride" Target="../theme/themeOverride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slideLayout" Target="../slideLayouts/slideLayout2.xml"/><Relationship Id="rId1" Type="http://schemas.openxmlformats.org/officeDocument/2006/relationships/themeOverride" Target="../theme/themeOverride8.xml"/></Relationships>
</file>

<file path=ppt/slides/_rels/slide1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slideLayout" Target="../slideLayouts/slideLayout2.xml"/><Relationship Id="rId1" Type="http://schemas.openxmlformats.org/officeDocument/2006/relationships/themeOverride" Target="../theme/themeOverride9.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slideLayout" Target="../slideLayouts/slideLayout2.xml"/><Relationship Id="rId1" Type="http://schemas.openxmlformats.org/officeDocument/2006/relationships/themeOverride" Target="../theme/themeOverride10.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slideLayout" Target="../slideLayouts/slideLayout2.xml"/><Relationship Id="rId1" Type="http://schemas.openxmlformats.org/officeDocument/2006/relationships/themeOverride" Target="../theme/themeOverride11.xml"/></Relationships>
</file>

<file path=ppt/slides/_rels/slide1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slideLayout" Target="../slideLayouts/slideLayout2.xml"/><Relationship Id="rId1" Type="http://schemas.openxmlformats.org/officeDocument/2006/relationships/themeOverride" Target="../theme/themeOverride1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slideLayout" Target="../slideLayouts/slideLayout2.xml"/><Relationship Id="rId1" Type="http://schemas.openxmlformats.org/officeDocument/2006/relationships/themeOverride" Target="../theme/themeOverride13.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2.xml"/><Relationship Id="rId1" Type="http://schemas.openxmlformats.org/officeDocument/2006/relationships/themeOverride" Target="../theme/themeOverride1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2.xml"/><Relationship Id="rId1" Type="http://schemas.openxmlformats.org/officeDocument/2006/relationships/themeOverride" Target="../theme/themeOverride15.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2.xml"/><Relationship Id="rId1" Type="http://schemas.openxmlformats.org/officeDocument/2006/relationships/themeOverride" Target="../theme/themeOverride16.xml"/></Relationships>
</file>

<file path=ppt/slides/_rels/slide19.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themeOverride" Target="../theme/themeOverride17.xml"/><Relationship Id="rId4" Type="http://schemas.openxmlformats.org/officeDocument/2006/relationships/image" Target="../media/image11.png"/></Relationships>
</file>

<file path=ppt/slides/_rels/slide20.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themeOverride" Target="../theme/themeOverride18.xml"/><Relationship Id="rId4" Type="http://schemas.openxmlformats.org/officeDocument/2006/relationships/image" Target="../media/image12.png"/></Relationships>
</file>

<file path=ppt/slides/_rels/slide21.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hemeOverride" Target="../theme/themeOverride19.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3" Type="http://schemas.openxmlformats.org/officeDocument/2006/relationships/notesSlide" Target="../notesSlides/notesSlide8.xml"/><Relationship Id="rId2" Type="http://schemas.openxmlformats.org/officeDocument/2006/relationships/slideLayout" Target="../slideLayouts/slideLayout2.xml"/><Relationship Id="rId1" Type="http://schemas.openxmlformats.org/officeDocument/2006/relationships/themeOverride" Target="../theme/themeOverride20.xml"/><Relationship Id="rId4" Type="http://schemas.openxmlformats.org/officeDocument/2006/relationships/image" Target="../media/image14.png"/></Relationships>
</file>

<file path=ppt/slides/_rels/slide23.xml.rels><?xml version="1.0" encoding="UTF-8" standalone="yes"?>
<Relationships xmlns="http://schemas.openxmlformats.org/package/2006/relationships"><Relationship Id="rId3" Type="http://schemas.openxmlformats.org/officeDocument/2006/relationships/notesSlide" Target="../notesSlides/notesSlide9.xml"/><Relationship Id="rId2" Type="http://schemas.openxmlformats.org/officeDocument/2006/relationships/slideLayout" Target="../slideLayouts/slideLayout2.xml"/><Relationship Id="rId1" Type="http://schemas.openxmlformats.org/officeDocument/2006/relationships/themeOverride" Target="../theme/themeOverride21.xml"/><Relationship Id="rId4" Type="http://schemas.openxmlformats.org/officeDocument/2006/relationships/image" Target="../media/image14.png"/></Relationships>
</file>

<file path=ppt/slides/_rels/slide24.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2.xml"/><Relationship Id="rId1" Type="http://schemas.openxmlformats.org/officeDocument/2006/relationships/themeOverride" Target="../theme/themeOverride22.xml"/><Relationship Id="rId4" Type="http://schemas.openxmlformats.org/officeDocument/2006/relationships/image" Target="../media/image15.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2.xml"/><Relationship Id="rId1" Type="http://schemas.openxmlformats.org/officeDocument/2006/relationships/themeOverride" Target="../theme/themeOverride23.xml"/><Relationship Id="rId4" Type="http://schemas.openxmlformats.org/officeDocument/2006/relationships/image" Target="../media/image16.png"/></Relationships>
</file>

<file path=ppt/slides/_rels/slide27.xml.rels><?xml version="1.0" encoding="UTF-8" standalone="yes"?>
<Relationships xmlns="http://schemas.openxmlformats.org/package/2006/relationships"><Relationship Id="rId3" Type="http://schemas.openxmlformats.org/officeDocument/2006/relationships/notesSlide" Target="../notesSlides/notesSlide12.xml"/><Relationship Id="rId2" Type="http://schemas.openxmlformats.org/officeDocument/2006/relationships/slideLayout" Target="../slideLayouts/slideLayout2.xml"/><Relationship Id="rId1" Type="http://schemas.openxmlformats.org/officeDocument/2006/relationships/themeOverride" Target="../theme/themeOverride24.xml"/><Relationship Id="rId4" Type="http://schemas.openxmlformats.org/officeDocument/2006/relationships/image" Target="../media/image17.png"/></Relationships>
</file>

<file path=ppt/slides/_rels/slide28.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2.xml"/><Relationship Id="rId1" Type="http://schemas.openxmlformats.org/officeDocument/2006/relationships/themeOverride" Target="../theme/themeOverride25.xml"/><Relationship Id="rId4" Type="http://schemas.openxmlformats.org/officeDocument/2006/relationships/image" Target="../media/image18.png"/></Relationships>
</file>

<file path=ppt/slides/_rels/slide29.xml.rels><?xml version="1.0" encoding="UTF-8" standalone="yes"?>
<Relationships xmlns="http://schemas.openxmlformats.org/package/2006/relationships"><Relationship Id="rId3" Type="http://schemas.openxmlformats.org/officeDocument/2006/relationships/notesSlide" Target="../notesSlides/notesSlide14.xml"/><Relationship Id="rId2" Type="http://schemas.openxmlformats.org/officeDocument/2006/relationships/slideLayout" Target="../slideLayouts/slideLayout2.xml"/><Relationship Id="rId1" Type="http://schemas.openxmlformats.org/officeDocument/2006/relationships/themeOverride" Target="../theme/themeOverride26.xml"/><Relationship Id="rId4" Type="http://schemas.openxmlformats.org/officeDocument/2006/relationships/image" Target="../media/image19.png"/></Relationships>
</file>

<file path=ppt/slides/_rels/slide30.xml.rels><?xml version="1.0" encoding="UTF-8" standalone="yes"?>
<Relationships xmlns="http://schemas.openxmlformats.org/package/2006/relationships"><Relationship Id="rId3" Type="http://schemas.openxmlformats.org/officeDocument/2006/relationships/notesSlide" Target="../notesSlides/notesSlide15.xml"/><Relationship Id="rId2" Type="http://schemas.openxmlformats.org/officeDocument/2006/relationships/slideLayout" Target="../slideLayouts/slideLayout2.xml"/><Relationship Id="rId1" Type="http://schemas.openxmlformats.org/officeDocument/2006/relationships/themeOverride" Target="../theme/themeOverride27.xml"/><Relationship Id="rId4" Type="http://schemas.openxmlformats.org/officeDocument/2006/relationships/image" Target="../media/image20.png"/></Relationships>
</file>

<file path=ppt/slides/_rels/slide31.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2.xml"/><Relationship Id="rId1" Type="http://schemas.openxmlformats.org/officeDocument/2006/relationships/themeOverride" Target="../theme/themeOverride28.xml"/><Relationship Id="rId4" Type="http://schemas.openxmlformats.org/officeDocument/2006/relationships/image" Target="../media/image21.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F5A5072-7B47-4D32-B52A-4EBBF590B8A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715DAF0-AE1B-46C9-8A6B-DB2AA05AB91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2" y="-22693"/>
            <a:ext cx="12191999" cy="4374129"/>
          </a:xfrm>
          <a:prstGeom prst="rect">
            <a:avLst/>
          </a:prstGeom>
          <a:gradFill>
            <a:gsLst>
              <a:gs pos="0">
                <a:schemeClr val="accent1">
                  <a:lumMod val="75000"/>
                </a:schemeClr>
              </a:gs>
              <a:gs pos="100000">
                <a:srgbClr val="000000"/>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016219D-510E-4184-9090-6D5578A87B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908719" y="-3931841"/>
            <a:ext cx="4374557" cy="12192000"/>
          </a:xfrm>
          <a:prstGeom prst="rect">
            <a:avLst/>
          </a:prstGeom>
          <a:gradFill>
            <a:gsLst>
              <a:gs pos="40000">
                <a:schemeClr val="accent1">
                  <a:alpha val="0"/>
                </a:schemeClr>
              </a:gs>
              <a:gs pos="100000">
                <a:schemeClr val="accent1">
                  <a:lumMod val="75000"/>
                  <a:alpha val="52000"/>
                </a:schemeClr>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FF4A713-7B75-4B21-90D7-5AB19547C7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136696" y="-3703868"/>
            <a:ext cx="4374128" cy="11736479"/>
          </a:xfrm>
          <a:prstGeom prst="rect">
            <a:avLst/>
          </a:prstGeom>
          <a:gradFill>
            <a:gsLst>
              <a:gs pos="17000">
                <a:schemeClr val="accent1">
                  <a:alpha val="0"/>
                </a:schemeClr>
              </a:gs>
              <a:gs pos="100000">
                <a:srgbClr val="000000">
                  <a:alpha val="37000"/>
                </a:srgbClr>
              </a:gs>
            </a:gsLst>
            <a:lin ang="7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631C0B-6DA6-4E57-8231-CE32B3434A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 y="-22690"/>
            <a:ext cx="8542485" cy="4374126"/>
          </a:xfrm>
          <a:prstGeom prst="rect">
            <a:avLst/>
          </a:prstGeom>
          <a:gradFill>
            <a:gsLst>
              <a:gs pos="0">
                <a:schemeClr val="accent1">
                  <a:lumMod val="50000"/>
                  <a:alpha val="0"/>
                </a:schemeClr>
              </a:gs>
              <a:gs pos="100000">
                <a:srgbClr val="000000">
                  <a:alpha val="25000"/>
                </a:srgb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C29501E6-A978-4A61-9689-9085AF97A5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2508972">
            <a:off x="5945431" y="-1032053"/>
            <a:ext cx="4990147" cy="4439131"/>
          </a:xfrm>
          <a:custGeom>
            <a:avLst/>
            <a:gdLst>
              <a:gd name="connsiteX0" fmla="*/ 4990147 w 4990147"/>
              <a:gd name="connsiteY0" fmla="*/ 2229378 h 4439131"/>
              <a:gd name="connsiteX1" fmla="*/ 917384 w 4990147"/>
              <a:gd name="connsiteY1" fmla="*/ 4439131 h 4439131"/>
              <a:gd name="connsiteX2" fmla="*/ 910814 w 4990147"/>
              <a:gd name="connsiteY2" fmla="*/ 4434219 h 4439131"/>
              <a:gd name="connsiteX3" fmla="*/ 0 w 4990147"/>
              <a:gd name="connsiteY3" fmla="*/ 2502877 h 4439131"/>
              <a:gd name="connsiteX4" fmla="*/ 2502877 w 4990147"/>
              <a:gd name="connsiteY4" fmla="*/ 0 h 4439131"/>
              <a:gd name="connsiteX5" fmla="*/ 4954904 w 4990147"/>
              <a:gd name="connsiteY5" fmla="*/ 1998460 h 44391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990147" h="4439131">
                <a:moveTo>
                  <a:pt x="4990147" y="2229378"/>
                </a:moveTo>
                <a:lnTo>
                  <a:pt x="917384" y="4439131"/>
                </a:lnTo>
                <a:lnTo>
                  <a:pt x="910814" y="4434219"/>
                </a:lnTo>
                <a:cubicBezTo>
                  <a:pt x="354557" y="3975154"/>
                  <a:pt x="0" y="3280421"/>
                  <a:pt x="0" y="2502877"/>
                </a:cubicBezTo>
                <a:cubicBezTo>
                  <a:pt x="0" y="1120576"/>
                  <a:pt x="1120576" y="0"/>
                  <a:pt x="2502877" y="0"/>
                </a:cubicBezTo>
                <a:cubicBezTo>
                  <a:pt x="3712390" y="0"/>
                  <a:pt x="4721520" y="857941"/>
                  <a:pt x="4954904" y="1998460"/>
                </a:cubicBezTo>
                <a:close/>
              </a:path>
            </a:pathLst>
          </a:custGeom>
          <a:gradFill>
            <a:gsLst>
              <a:gs pos="0">
                <a:schemeClr val="accent1">
                  <a:alpha val="22000"/>
                </a:schemeClr>
              </a:gs>
              <a:gs pos="87000">
                <a:schemeClr val="accent1">
                  <a:lumMod val="60000"/>
                  <a:lumOff val="40000"/>
                  <a:alpha val="2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dirty="0"/>
          </a:p>
        </p:txBody>
      </p:sp>
      <p:sp>
        <p:nvSpPr>
          <p:cNvPr id="2" name="Title 1">
            <a:extLst>
              <a:ext uri="{FF2B5EF4-FFF2-40B4-BE49-F238E27FC236}">
                <a16:creationId xmlns:a16="http://schemas.microsoft.com/office/drawing/2014/main" id="{A0957C4C-911D-E724-3BB4-1B6EAD4E1BD2}"/>
              </a:ext>
            </a:extLst>
          </p:cNvPr>
          <p:cNvSpPr>
            <a:spLocks noGrp="1"/>
          </p:cNvSpPr>
          <p:nvPr>
            <p:ph type="ctrTitle"/>
          </p:nvPr>
        </p:nvSpPr>
        <p:spPr>
          <a:xfrm>
            <a:off x="1314824" y="735106"/>
            <a:ext cx="10053763" cy="2928470"/>
          </a:xfrm>
        </p:spPr>
        <p:txBody>
          <a:bodyPr anchor="b">
            <a:normAutofit/>
          </a:bodyPr>
          <a:lstStyle/>
          <a:p>
            <a:pPr algn="l"/>
            <a:r>
              <a:rPr lang="es-AR" sz="4800">
                <a:solidFill>
                  <a:srgbClr val="FFFFFF"/>
                </a:solidFill>
              </a:rPr>
              <a:t>Programación Dinámica</a:t>
            </a:r>
            <a:endParaRPr lang="en-US" sz="4800">
              <a:solidFill>
                <a:srgbClr val="FFFFFF"/>
              </a:solidFill>
            </a:endParaRPr>
          </a:p>
        </p:txBody>
      </p:sp>
      <p:sp>
        <p:nvSpPr>
          <p:cNvPr id="3" name="Subtitle 2">
            <a:extLst>
              <a:ext uri="{FF2B5EF4-FFF2-40B4-BE49-F238E27FC236}">
                <a16:creationId xmlns:a16="http://schemas.microsoft.com/office/drawing/2014/main" id="{94BB4FF2-695D-9C69-4478-79BA4E5C6569}"/>
              </a:ext>
            </a:extLst>
          </p:cNvPr>
          <p:cNvSpPr>
            <a:spLocks noGrp="1"/>
          </p:cNvSpPr>
          <p:nvPr>
            <p:ph type="subTitle" idx="1"/>
          </p:nvPr>
        </p:nvSpPr>
        <p:spPr>
          <a:xfrm>
            <a:off x="1350682" y="4870824"/>
            <a:ext cx="10005951" cy="1458258"/>
          </a:xfrm>
        </p:spPr>
        <p:txBody>
          <a:bodyPr anchor="ctr">
            <a:normAutofit/>
          </a:bodyPr>
          <a:lstStyle/>
          <a:p>
            <a:pPr algn="l"/>
            <a:r>
              <a:rPr lang="es-AR" b="1" dirty="0">
                <a:solidFill>
                  <a:schemeClr val="accent1">
                    <a:lumMod val="50000"/>
                  </a:schemeClr>
                </a:solidFill>
              </a:rPr>
              <a:t>Materia: </a:t>
            </a:r>
            <a:r>
              <a:rPr lang="es-AR" dirty="0"/>
              <a:t>TTPS</a:t>
            </a:r>
          </a:p>
          <a:p>
            <a:pPr algn="l"/>
            <a:r>
              <a:rPr lang="es-AR" b="1" dirty="0">
                <a:solidFill>
                  <a:schemeClr val="accent1">
                    <a:lumMod val="50000"/>
                  </a:schemeClr>
                </a:solidFill>
              </a:rPr>
              <a:t>Autor: </a:t>
            </a:r>
            <a:r>
              <a:rPr lang="es-AR" dirty="0"/>
              <a:t>JTP - Matías Fluxa</a:t>
            </a:r>
          </a:p>
        </p:txBody>
      </p:sp>
    </p:spTree>
    <p:extLst>
      <p:ext uri="{BB962C8B-B14F-4D97-AF65-F5344CB8AC3E}">
        <p14:creationId xmlns:p14="http://schemas.microsoft.com/office/powerpoint/2010/main" val="294771893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Rectangle 2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02ACC4D-D34D-EE75-6F10-1E646CFB3171}"/>
              </a:ext>
            </a:extLst>
          </p:cNvPr>
          <p:cNvSpPr>
            <a:spLocks noGrp="1"/>
          </p:cNvSpPr>
          <p:nvPr>
            <p:ph type="title"/>
          </p:nvPr>
        </p:nvSpPr>
        <p:spPr>
          <a:xfrm>
            <a:off x="1371599" y="294538"/>
            <a:ext cx="9895951" cy="1033669"/>
          </a:xfrm>
        </p:spPr>
        <p:txBody>
          <a:bodyPr>
            <a:normAutofit/>
          </a:bodyPr>
          <a:lstStyle/>
          <a:p>
            <a:r>
              <a:rPr lang="es-AR" sz="4000">
                <a:solidFill>
                  <a:srgbClr val="FFFFFF"/>
                </a:solidFill>
              </a:rPr>
              <a:t>¿Qué es la programación dinámica?</a:t>
            </a:r>
            <a:endParaRPr lang="en-US" sz="4000">
              <a:solidFill>
                <a:srgbClr val="FFFFFF"/>
              </a:solidFill>
            </a:endParaRPr>
          </a:p>
        </p:txBody>
      </p:sp>
    </p:spTree>
    <p:extLst>
      <p:ext uri="{BB962C8B-B14F-4D97-AF65-F5344CB8AC3E}">
        <p14:creationId xmlns:p14="http://schemas.microsoft.com/office/powerpoint/2010/main" val="1074608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8144D18-BD7F-6585-F1DD-6CD18005E5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FC5E27-FCCB-3027-3BB5-68C0192028C3}"/>
              </a:ext>
            </a:extLst>
          </p:cNvPr>
          <p:cNvSpPr>
            <a:spLocks noGrp="1"/>
          </p:cNvSpPr>
          <p:nvPr>
            <p:ph type="title"/>
          </p:nvPr>
        </p:nvSpPr>
        <p:spPr>
          <a:xfrm>
            <a:off x="1371599" y="294538"/>
            <a:ext cx="9895951" cy="1033669"/>
          </a:xfrm>
        </p:spPr>
        <p:txBody>
          <a:bodyPr>
            <a:normAutofit/>
          </a:bodyPr>
          <a:lstStyle/>
          <a:p>
            <a:r>
              <a:rPr lang="es-AR" sz="4000">
                <a:solidFill>
                  <a:srgbClr val="FFFFFF"/>
                </a:solidFill>
              </a:rPr>
              <a:t>¿Qué es la programación dinámica?</a:t>
            </a:r>
            <a:endParaRPr lang="en-US" sz="4000">
              <a:solidFill>
                <a:srgbClr val="FFFFFF"/>
              </a:solidFill>
            </a:endParaRPr>
          </a:p>
        </p:txBody>
      </p:sp>
      <p:sp>
        <p:nvSpPr>
          <p:cNvPr id="3" name="Content Placeholder 2">
            <a:extLst>
              <a:ext uri="{FF2B5EF4-FFF2-40B4-BE49-F238E27FC236}">
                <a16:creationId xmlns:a16="http://schemas.microsoft.com/office/drawing/2014/main" id="{5836749F-4A4A-5E7F-E881-AEB6383A5F1A}"/>
              </a:ext>
            </a:extLst>
          </p:cNvPr>
          <p:cNvSpPr>
            <a:spLocks noGrp="1"/>
          </p:cNvSpPr>
          <p:nvPr>
            <p:ph idx="1"/>
          </p:nvPr>
        </p:nvSpPr>
        <p:spPr>
          <a:xfrm>
            <a:off x="1371599" y="2318197"/>
            <a:ext cx="9724031" cy="3683358"/>
          </a:xfrm>
        </p:spPr>
        <p:txBody>
          <a:bodyPr tIns="108000" bIns="108000" anchor="t" anchorCtr="0">
            <a:normAutofit/>
          </a:bodyPr>
          <a:lstStyle/>
          <a:p>
            <a:pPr marL="0" indent="0">
              <a:buNone/>
            </a:pPr>
            <a:r>
              <a:rPr lang="es-AR" b="1" dirty="0">
                <a:solidFill>
                  <a:schemeClr val="accent1">
                    <a:lumMod val="50000"/>
                  </a:schemeClr>
                </a:solidFill>
              </a:rPr>
              <a:t>Definición de Wikipedia</a:t>
            </a:r>
            <a:endParaRPr lang="es-ES" sz="2000" dirty="0">
              <a:solidFill>
                <a:schemeClr val="accent1">
                  <a:lumMod val="50000"/>
                </a:schemeClr>
              </a:solidFill>
            </a:endParaRPr>
          </a:p>
          <a:p>
            <a:pPr lvl="1">
              <a:lnSpc>
                <a:spcPct val="150000"/>
              </a:lnSpc>
            </a:pPr>
            <a:r>
              <a:rPr lang="es-ES" sz="2000" dirty="0"/>
              <a:t>En informática, la programación dinámica es un método para reducir el tiempo de ejecución de un algoritmo mediante la utilización de subproblemas superpuestos y subestructuras óptimas.</a:t>
            </a:r>
          </a:p>
        </p:txBody>
      </p:sp>
    </p:spTree>
    <p:extLst>
      <p:ext uri="{BB962C8B-B14F-4D97-AF65-F5344CB8AC3E}">
        <p14:creationId xmlns:p14="http://schemas.microsoft.com/office/powerpoint/2010/main" val="222566386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94E4593-7392-2D9F-2A9E-C2A18725A35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C1BEEB57-AF0B-BE27-530F-E85E79AF5B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03662D31-9A00-836F-4065-675EEFED6E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3BD8637-2657-1484-02E4-7C6E82974E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05C3018-9229-A2F8-A183-A36B46DABE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766F725-274B-7E66-81AD-977344733F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9C89ECB-9251-8C3D-C7E6-437E03F151B1}"/>
              </a:ext>
            </a:extLst>
          </p:cNvPr>
          <p:cNvSpPr>
            <a:spLocks noGrp="1"/>
          </p:cNvSpPr>
          <p:nvPr>
            <p:ph type="title"/>
          </p:nvPr>
        </p:nvSpPr>
        <p:spPr>
          <a:xfrm>
            <a:off x="1371599" y="294538"/>
            <a:ext cx="9895951" cy="1033669"/>
          </a:xfrm>
        </p:spPr>
        <p:txBody>
          <a:bodyPr>
            <a:normAutofit/>
          </a:bodyPr>
          <a:lstStyle/>
          <a:p>
            <a:r>
              <a:rPr lang="es-AR" sz="4000">
                <a:solidFill>
                  <a:srgbClr val="FFFFFF"/>
                </a:solidFill>
              </a:rPr>
              <a:t>¿Qué es la programación dinámica?</a:t>
            </a:r>
            <a:endParaRPr lang="en-US" sz="4000">
              <a:solidFill>
                <a:srgbClr val="FFFFFF"/>
              </a:solidFill>
            </a:endParaRPr>
          </a:p>
        </p:txBody>
      </p:sp>
      <p:sp>
        <p:nvSpPr>
          <p:cNvPr id="3" name="Content Placeholder 2">
            <a:extLst>
              <a:ext uri="{FF2B5EF4-FFF2-40B4-BE49-F238E27FC236}">
                <a16:creationId xmlns:a16="http://schemas.microsoft.com/office/drawing/2014/main" id="{A484B589-00E8-535E-0600-E48058E864B7}"/>
              </a:ext>
            </a:extLst>
          </p:cNvPr>
          <p:cNvSpPr>
            <a:spLocks noGrp="1"/>
          </p:cNvSpPr>
          <p:nvPr>
            <p:ph idx="1"/>
          </p:nvPr>
        </p:nvSpPr>
        <p:spPr>
          <a:xfrm>
            <a:off x="1371599" y="2318197"/>
            <a:ext cx="9724031" cy="3683358"/>
          </a:xfrm>
        </p:spPr>
        <p:txBody>
          <a:bodyPr tIns="108000" bIns="108000" anchor="t" anchorCtr="0">
            <a:normAutofit/>
          </a:bodyPr>
          <a:lstStyle/>
          <a:p>
            <a:pPr marL="0" indent="0">
              <a:buNone/>
            </a:pPr>
            <a:r>
              <a:rPr lang="es-AR" b="1" dirty="0">
                <a:solidFill>
                  <a:schemeClr val="accent1">
                    <a:lumMod val="50000"/>
                  </a:schemeClr>
                </a:solidFill>
              </a:rPr>
              <a:t>Definición de Gemini</a:t>
            </a:r>
            <a:endParaRPr lang="es-ES" sz="2000" dirty="0">
              <a:solidFill>
                <a:schemeClr val="accent1">
                  <a:lumMod val="50000"/>
                </a:schemeClr>
              </a:solidFill>
            </a:endParaRPr>
          </a:p>
          <a:p>
            <a:pPr lvl="1">
              <a:lnSpc>
                <a:spcPct val="150000"/>
              </a:lnSpc>
            </a:pPr>
            <a:r>
              <a:rPr lang="es-ES" sz="2000" dirty="0"/>
              <a:t>La programación dinámica es una </a:t>
            </a:r>
            <a:r>
              <a:rPr lang="es-ES" sz="2000" b="1" dirty="0">
                <a:solidFill>
                  <a:schemeClr val="accent1">
                    <a:lumMod val="75000"/>
                  </a:schemeClr>
                </a:solidFill>
              </a:rPr>
              <a:t>técnica</a:t>
            </a:r>
            <a:r>
              <a:rPr lang="es-ES" sz="2000" dirty="0"/>
              <a:t> de optimización matemática y un método de diseño de algoritmos que resuelve problemas complejos dividiéndolos en subproblemas más pequeños y sencillos. La clave de esta técnica es que almacena las soluciones de estos subproblemas para no tener que volver a calcularlas más tarde.</a:t>
            </a:r>
          </a:p>
        </p:txBody>
      </p:sp>
    </p:spTree>
    <p:extLst>
      <p:ext uri="{BB962C8B-B14F-4D97-AF65-F5344CB8AC3E}">
        <p14:creationId xmlns:p14="http://schemas.microsoft.com/office/powerpoint/2010/main" val="13610487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CCE8A8E-E717-2037-7E91-FF973F551C9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26726970-A870-1B38-A62E-1C9E194ACF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B31E70A-70B2-0195-402F-6898A9DA989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B16F01B-C9BD-0585-48CD-1F3A870058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6AC7330-D020-34D9-5A96-0D7D4E5198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800EC53-0DF3-90A3-64F9-807B5B44BB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7453FB-C258-C17E-591A-9E20AF516D99}"/>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Veamos un problema de ejemplo …</a:t>
            </a:r>
            <a:endParaRPr lang="en-US" sz="4000" dirty="0">
              <a:solidFill>
                <a:srgbClr val="FFFFFF"/>
              </a:solidFill>
            </a:endParaRPr>
          </a:p>
        </p:txBody>
      </p:sp>
      <p:sp>
        <p:nvSpPr>
          <p:cNvPr id="3" name="Content Placeholder 2">
            <a:extLst>
              <a:ext uri="{FF2B5EF4-FFF2-40B4-BE49-F238E27FC236}">
                <a16:creationId xmlns:a16="http://schemas.microsoft.com/office/drawing/2014/main" id="{6477E581-2F34-D2BE-F98A-963203E8EB6A}"/>
              </a:ext>
            </a:extLst>
          </p:cNvPr>
          <p:cNvSpPr>
            <a:spLocks noGrp="1"/>
          </p:cNvSpPr>
          <p:nvPr>
            <p:ph idx="1"/>
          </p:nvPr>
        </p:nvSpPr>
        <p:spPr>
          <a:xfrm>
            <a:off x="1371599" y="2299725"/>
            <a:ext cx="9724031" cy="3683358"/>
          </a:xfrm>
        </p:spPr>
        <p:txBody>
          <a:bodyPr tIns="108000" bIns="108000" anchor="t" anchorCtr="0">
            <a:normAutofit/>
          </a:bodyPr>
          <a:lstStyle/>
          <a:p>
            <a:pPr marL="0" indent="0">
              <a:spcBef>
                <a:spcPts val="1800"/>
              </a:spcBef>
              <a:buNone/>
            </a:pPr>
            <a:r>
              <a:rPr lang="es-ES" sz="2000" dirty="0"/>
              <a:t>Un entero positivo </a:t>
            </a:r>
            <a:r>
              <a:rPr lang="es-ES" sz="2000" b="1" dirty="0"/>
              <a:t>N </a:t>
            </a:r>
            <a:r>
              <a:rPr lang="es-ES" sz="2000" dirty="0"/>
              <a:t>se denomina </a:t>
            </a:r>
            <a:r>
              <a:rPr lang="es-ES" sz="2000" b="1" dirty="0">
                <a:solidFill>
                  <a:schemeClr val="tx2">
                    <a:lumMod val="75000"/>
                    <a:lumOff val="25000"/>
                  </a:schemeClr>
                </a:solidFill>
              </a:rPr>
              <a:t>fachero</a:t>
            </a:r>
            <a:r>
              <a:rPr lang="es-ES" sz="2000" i="1" dirty="0"/>
              <a:t> </a:t>
            </a:r>
            <a:r>
              <a:rPr lang="es-ES" sz="2000" dirty="0"/>
              <a:t>si cumple las siguientes condiciones:</a:t>
            </a:r>
            <a:endParaRPr lang="es-ES" sz="2000" b="1" i="1" dirty="0"/>
          </a:p>
          <a:p>
            <a:pPr>
              <a:spcBef>
                <a:spcPts val="1800"/>
              </a:spcBef>
              <a:buFontTx/>
              <a:buChar char="-"/>
            </a:pPr>
            <a:r>
              <a:rPr lang="es-ES" sz="2000" dirty="0"/>
              <a:t>Tiene 8 dígitos</a:t>
            </a:r>
          </a:p>
          <a:p>
            <a:pPr>
              <a:spcBef>
                <a:spcPts val="1800"/>
              </a:spcBef>
              <a:buFontTx/>
              <a:buChar char="-"/>
            </a:pPr>
            <a:r>
              <a:rPr lang="es-ES" sz="2000" dirty="0"/>
              <a:t>Todos los dígitos de </a:t>
            </a:r>
            <a:r>
              <a:rPr lang="es-ES" sz="2000" b="1" dirty="0"/>
              <a:t>N</a:t>
            </a:r>
            <a:r>
              <a:rPr lang="es-ES" sz="2000" dirty="0"/>
              <a:t> son impares</a:t>
            </a:r>
          </a:p>
          <a:p>
            <a:pPr>
              <a:spcBef>
                <a:spcPts val="1800"/>
              </a:spcBef>
              <a:buFontTx/>
              <a:buChar char="-"/>
            </a:pPr>
            <a:r>
              <a:rPr lang="es-ES" sz="2000" dirty="0"/>
              <a:t>Todas las restas de dos dígitos consecutivos de </a:t>
            </a:r>
            <a:r>
              <a:rPr lang="es-ES" sz="2000" b="1" dirty="0"/>
              <a:t>N </a:t>
            </a:r>
            <a:r>
              <a:rPr lang="es-ES" sz="2000" dirty="0"/>
              <a:t>el mayor menos el menor, son iguales a 2.</a:t>
            </a:r>
          </a:p>
          <a:p>
            <a:pPr marL="0" indent="0">
              <a:spcBef>
                <a:spcPts val="1800"/>
              </a:spcBef>
              <a:buNone/>
            </a:pPr>
            <a:r>
              <a:rPr lang="es-ES" sz="2000" dirty="0"/>
              <a:t>Hallar la cantidad de números </a:t>
            </a:r>
            <a:r>
              <a:rPr lang="es-ES" sz="2000" b="1" dirty="0">
                <a:solidFill>
                  <a:schemeClr val="tx2">
                    <a:lumMod val="75000"/>
                    <a:lumOff val="25000"/>
                  </a:schemeClr>
                </a:solidFill>
              </a:rPr>
              <a:t>facheros</a:t>
            </a:r>
            <a:r>
              <a:rPr lang="es-ES" sz="2000" i="1" dirty="0"/>
              <a:t> </a:t>
            </a:r>
            <a:r>
              <a:rPr lang="es-ES" sz="2000" dirty="0"/>
              <a:t>que existen.</a:t>
            </a:r>
          </a:p>
          <a:p>
            <a:pPr>
              <a:spcBef>
                <a:spcPts val="1800"/>
              </a:spcBef>
              <a:buFontTx/>
              <a:buChar char="-"/>
            </a:pPr>
            <a:endParaRPr lang="es-ES" sz="2000" dirty="0"/>
          </a:p>
          <a:p>
            <a:pPr marL="0" indent="0">
              <a:spcBef>
                <a:spcPts val="1800"/>
              </a:spcBef>
              <a:buNone/>
            </a:pPr>
            <a:endParaRPr lang="es-ES" sz="2000" dirty="0"/>
          </a:p>
        </p:txBody>
      </p:sp>
    </p:spTree>
    <p:extLst>
      <p:ext uri="{BB962C8B-B14F-4D97-AF65-F5344CB8AC3E}">
        <p14:creationId xmlns:p14="http://schemas.microsoft.com/office/powerpoint/2010/main" val="5893173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D596B3E-9D76-06F6-27B4-C458C81CF3A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99912E2-8F44-FDA3-D6F3-BE6CAB6F5B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A7561AF-D866-7A84-C216-DCF475291C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0C967D0-CB01-31D5-60D0-AB5ACEE7A22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3A94EC5-2178-E9E1-427C-8597F605031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CBCAF7F-B264-F2B5-4E0F-634C5097F8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1E768F-AAB4-59DF-0D09-6679A7B4744D}"/>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8D04583F-74CE-55F5-8A5C-C667A957992D}"/>
                  </a:ext>
                </a:extLst>
              </p:cNvPr>
              <p:cNvSpPr>
                <a:spLocks noGrp="1"/>
              </p:cNvSpPr>
              <p:nvPr>
                <p:ph idx="1"/>
              </p:nvPr>
            </p:nvSpPr>
            <p:spPr>
              <a:xfrm>
                <a:off x="1371599" y="2299725"/>
                <a:ext cx="9724031" cy="3683358"/>
              </a:xfrm>
            </p:spPr>
            <p:txBody>
              <a:bodyPr tIns="108000" bIns="108000" anchor="t" anchorCtr="0">
                <a:normAutofit/>
              </a:bodyPr>
              <a:lstStyle/>
              <a:p>
                <a:pPr>
                  <a:lnSpc>
                    <a:spcPct val="110000"/>
                  </a:lnSpc>
                  <a:spcBef>
                    <a:spcPts val="1800"/>
                  </a:spcBef>
                  <a:buFontTx/>
                  <a:buChar char="-"/>
                </a:pPr>
                <a:r>
                  <a:rPr lang="es-ES" sz="2000" dirty="0"/>
                  <a:t>Podemos pensar en un principio en definir</a:t>
                </a:r>
              </a:p>
              <a:p>
                <a:pPr marL="0" indent="0">
                  <a:lnSpc>
                    <a:spcPct val="110000"/>
                  </a:lnSpc>
                  <a:spcBef>
                    <a:spcPts val="1800"/>
                  </a:spcBef>
                  <a:buNone/>
                </a:pPr>
                <a:r>
                  <a:rPr lang="es-AR" sz="2000" b="0" dirty="0"/>
                  <a:t>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𝑥</m:t>
                        </m:r>
                      </m:e>
                    </m:d>
                    <m:r>
                      <a:rPr lang="es-AR" sz="2000" b="0" i="1" smtClean="0">
                        <a:latin typeface="Cambria Math" panose="02040503050406030204" pitchFamily="18" charset="0"/>
                      </a:rPr>
                      <m:t>:</m:t>
                    </m:r>
                  </m:oMath>
                </a14:m>
                <a:r>
                  <a:rPr lang="es-ES" sz="2000" dirty="0"/>
                  <a:t> Cantidad de números facheros de </a:t>
                </a:r>
                <a14:m>
                  <m:oMath xmlns:m="http://schemas.openxmlformats.org/officeDocument/2006/math">
                    <m:r>
                      <a:rPr lang="es-AR" sz="2000" b="0" i="1" smtClean="0">
                        <a:latin typeface="Cambria Math" panose="02040503050406030204" pitchFamily="18" charset="0"/>
                      </a:rPr>
                      <m:t>𝑥</m:t>
                    </m:r>
                  </m:oMath>
                </a14:m>
                <a:r>
                  <a:rPr lang="es-ES" sz="2000" dirty="0"/>
                  <a:t> dígitos.</a:t>
                </a:r>
              </a:p>
              <a:p>
                <a:pPr>
                  <a:lnSpc>
                    <a:spcPct val="110000"/>
                  </a:lnSpc>
                  <a:spcBef>
                    <a:spcPts val="1800"/>
                  </a:spcBef>
                  <a:buFontTx/>
                  <a:buChar char="-"/>
                </a:pPr>
                <a:r>
                  <a:rPr lang="es-ES" sz="2000" dirty="0"/>
                  <a:t>Nuestro problema nos pide específicamente hallar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8</m:t>
                        </m:r>
                      </m:e>
                    </m:d>
                    <m:r>
                      <a:rPr lang="es-AR" sz="2000" b="0" i="0" smtClean="0">
                        <a:latin typeface="Cambria Math" panose="02040503050406030204" pitchFamily="18" charset="0"/>
                      </a:rPr>
                      <m:t>.</m:t>
                    </m:r>
                  </m:oMath>
                </a14:m>
                <a:endParaRPr lang="es-AR" sz="2000" b="0" dirty="0"/>
              </a:p>
              <a:p>
                <a:pPr>
                  <a:lnSpc>
                    <a:spcPct val="110000"/>
                  </a:lnSpc>
                  <a:spcBef>
                    <a:spcPts val="1800"/>
                  </a:spcBef>
                  <a:buFontTx/>
                  <a:buChar char="-"/>
                </a:pPr>
                <a:r>
                  <a:rPr lang="es-ES" sz="2000" dirty="0"/>
                  <a:t>Si queremos seguir con la definición de </a:t>
                </a:r>
                <a:r>
                  <a:rPr lang="es-ES" sz="2000" b="1" dirty="0">
                    <a:solidFill>
                      <a:schemeClr val="tx2">
                        <a:lumMod val="75000"/>
                        <a:lumOff val="25000"/>
                      </a:schemeClr>
                    </a:solidFill>
                  </a:rPr>
                  <a:t>DP</a:t>
                </a:r>
                <a:r>
                  <a:rPr lang="es-ES" sz="2000" b="1" dirty="0"/>
                  <a:t> </a:t>
                </a:r>
                <a:r>
                  <a:rPr lang="es-ES" sz="2000" dirty="0"/>
                  <a:t>que vimos anteriormente, podríamos pensar en resolver casos más chicos primero.</a:t>
                </a:r>
              </a:p>
              <a:p>
                <a:pPr>
                  <a:lnSpc>
                    <a:spcPct val="110000"/>
                  </a:lnSpc>
                  <a:spcBef>
                    <a:spcPts val="1800"/>
                  </a:spcBef>
                  <a:buFontTx/>
                  <a:buChar char="-"/>
                </a:pPr>
                <a:r>
                  <a:rPr lang="es-ES" sz="2000" dirty="0"/>
                  <a:t>Supongamos que logramos hallar </a:t>
                </a:r>
                <a14:m>
                  <m:oMath xmlns:m="http://schemas.openxmlformats.org/officeDocument/2006/math">
                    <m:r>
                      <a:rPr lang="es-AR" sz="2000" b="0" i="1" smtClean="0">
                        <a:latin typeface="Cambria Math" panose="02040503050406030204" pitchFamily="18" charset="0"/>
                      </a:rPr>
                      <m:t>𝑓</m:t>
                    </m:r>
                    <m:r>
                      <a:rPr lang="es-AR" sz="2000" b="0" i="1" smtClean="0">
                        <a:latin typeface="Cambria Math" panose="02040503050406030204" pitchFamily="18" charset="0"/>
                      </a:rPr>
                      <m:t>(7)</m:t>
                    </m:r>
                  </m:oMath>
                </a14:m>
                <a:r>
                  <a:rPr lang="es-ES" sz="2000" dirty="0"/>
                  <a:t> de alguna manera ¿podríamos obtener fácilmente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8</m:t>
                        </m:r>
                      </m:e>
                    </m:d>
                  </m:oMath>
                </a14:m>
                <a:r>
                  <a:rPr lang="es-ES" sz="2000" dirty="0"/>
                  <a:t> a partir del resultado conocido?</a:t>
                </a:r>
              </a:p>
            </p:txBody>
          </p:sp>
        </mc:Choice>
        <mc:Fallback xmlns="">
          <p:sp>
            <p:nvSpPr>
              <p:cNvPr id="3" name="Content Placeholder 2">
                <a:extLst>
                  <a:ext uri="{FF2B5EF4-FFF2-40B4-BE49-F238E27FC236}">
                    <a16:creationId xmlns:a16="http://schemas.microsoft.com/office/drawing/2014/main" id="{8D04583F-74CE-55F5-8A5C-C667A957992D}"/>
                  </a:ext>
                </a:extLst>
              </p:cNvPr>
              <p:cNvSpPr>
                <a:spLocks noGrp="1" noRot="1" noChangeAspect="1" noMove="1" noResize="1" noEditPoints="1" noAdjustHandles="1" noChangeArrowheads="1" noChangeShapeType="1" noTextEdit="1"/>
              </p:cNvSpPr>
              <p:nvPr>
                <p:ph idx="1"/>
              </p:nvPr>
            </p:nvSpPr>
            <p:spPr>
              <a:xfrm>
                <a:off x="1371599" y="2299725"/>
                <a:ext cx="9724031" cy="3683358"/>
              </a:xfrm>
              <a:blipFill>
                <a:blip r:embed="rId3"/>
                <a:stretch>
                  <a:fillRect l="-690"/>
                </a:stretch>
              </a:blipFill>
            </p:spPr>
            <p:txBody>
              <a:bodyPr/>
              <a:lstStyle/>
              <a:p>
                <a:r>
                  <a:rPr lang="en-US">
                    <a:noFill/>
                  </a:rPr>
                  <a:t> </a:t>
                </a:r>
              </a:p>
            </p:txBody>
          </p:sp>
        </mc:Fallback>
      </mc:AlternateContent>
    </p:spTree>
    <p:extLst>
      <p:ext uri="{BB962C8B-B14F-4D97-AF65-F5344CB8AC3E}">
        <p14:creationId xmlns:p14="http://schemas.microsoft.com/office/powerpoint/2010/main" val="215360468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43A8FA22-BB26-B374-0914-727193653EE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7DFAFDD-6569-298C-0E38-C6E1AF9E7B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24A32B7-DBE1-B553-10E3-85B948764F6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23A8B8E-4BBF-59FD-5855-0B50500A83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6C9FFF6D-9DE3-C045-4B43-439478E2BB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9DA3070-1EC7-6B94-EA90-11B58E0A4CC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8ED84B7-83E0-F208-7267-DE1E824DAF72}"/>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5EE3D0B8-86AB-4CF3-AD33-211B2D91872E}"/>
                  </a:ext>
                </a:extLst>
              </p:cNvPr>
              <p:cNvSpPr>
                <a:spLocks noGrp="1"/>
              </p:cNvSpPr>
              <p:nvPr>
                <p:ph idx="1"/>
              </p:nvPr>
            </p:nvSpPr>
            <p:spPr>
              <a:xfrm>
                <a:off x="1371599" y="2299725"/>
                <a:ext cx="9724031" cy="3683358"/>
              </a:xfrm>
            </p:spPr>
            <p:txBody>
              <a:bodyPr tIns="108000" bIns="108000" anchor="t" anchorCtr="0">
                <a:normAutofit/>
              </a:bodyPr>
              <a:lstStyle/>
              <a:p>
                <a:pPr>
                  <a:lnSpc>
                    <a:spcPct val="110000"/>
                  </a:lnSpc>
                  <a:spcBef>
                    <a:spcPts val="1800"/>
                  </a:spcBef>
                  <a:buFontTx/>
                  <a:buChar char="-"/>
                </a:pPr>
                <a:r>
                  <a:rPr lang="es-ES" sz="2000" dirty="0"/>
                  <a:t>Conviene cambiar la definición del </a:t>
                </a:r>
                <a:r>
                  <a:rPr lang="es-ES" sz="2000" b="1" dirty="0">
                    <a:solidFill>
                      <a:schemeClr val="tx2">
                        <a:lumMod val="75000"/>
                        <a:lumOff val="25000"/>
                      </a:schemeClr>
                    </a:solidFill>
                  </a:rPr>
                  <a:t>estado</a:t>
                </a:r>
                <a:r>
                  <a:rPr lang="es-ES" sz="2000" dirty="0"/>
                  <a:t> de la siguiente manera </a:t>
                </a:r>
              </a:p>
              <a:p>
                <a:pPr marL="0" indent="0">
                  <a:lnSpc>
                    <a:spcPct val="110000"/>
                  </a:lnSpc>
                  <a:spcBef>
                    <a:spcPts val="1800"/>
                  </a:spcBef>
                  <a:buNone/>
                </a:pPr>
                <a:r>
                  <a:rPr lang="es-AR" sz="2000" b="0" dirty="0"/>
                  <a:t>	</a:t>
                </a:r>
                <a14:m>
                  <m:oMath xmlns:m="http://schemas.openxmlformats.org/officeDocument/2006/math">
                    <m:r>
                      <m:rPr>
                        <m:sty m:val="p"/>
                      </m:rPr>
                      <a:rPr lang="es-AR" sz="2000" b="0" i="0" smtClean="0">
                        <a:latin typeface="Cambria Math" panose="02040503050406030204" pitchFamily="18" charset="0"/>
                      </a:rPr>
                      <m:t>g</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𝑥</m:t>
                        </m:r>
                        <m:r>
                          <a:rPr lang="es-AR" sz="2000" b="0" i="1" smtClean="0">
                            <a:latin typeface="Cambria Math" panose="02040503050406030204" pitchFamily="18" charset="0"/>
                          </a:rPr>
                          <m:t>,</m:t>
                        </m:r>
                        <m:r>
                          <a:rPr lang="es-AR" sz="2000" b="0" i="1" smtClean="0">
                            <a:latin typeface="Cambria Math" panose="02040503050406030204" pitchFamily="18" charset="0"/>
                          </a:rPr>
                          <m:t>𝑘</m:t>
                        </m:r>
                      </m:e>
                    </m:d>
                    <m:r>
                      <a:rPr lang="es-AR" sz="2000" b="0" i="1" smtClean="0">
                        <a:latin typeface="Cambria Math" panose="02040503050406030204" pitchFamily="18" charset="0"/>
                      </a:rPr>
                      <m:t>:</m:t>
                    </m:r>
                  </m:oMath>
                </a14:m>
                <a:r>
                  <a:rPr lang="es-ES" sz="2000" dirty="0"/>
                  <a:t> # de números facheros de </a:t>
                </a:r>
                <a14:m>
                  <m:oMath xmlns:m="http://schemas.openxmlformats.org/officeDocument/2006/math">
                    <m:r>
                      <a:rPr lang="es-AR" sz="2000" b="0" i="1" smtClean="0">
                        <a:latin typeface="Cambria Math" panose="02040503050406030204" pitchFamily="18" charset="0"/>
                      </a:rPr>
                      <m:t>𝑥</m:t>
                    </m:r>
                  </m:oMath>
                </a14:m>
                <a:r>
                  <a:rPr lang="es-ES" sz="2000" dirty="0"/>
                  <a:t> dígitos que terminan con el dígito </a:t>
                </a:r>
                <a14:m>
                  <m:oMath xmlns:m="http://schemas.openxmlformats.org/officeDocument/2006/math">
                    <m:r>
                      <a:rPr lang="es-AR" sz="2000" b="0" i="1" smtClean="0">
                        <a:latin typeface="Cambria Math" panose="02040503050406030204" pitchFamily="18" charset="0"/>
                      </a:rPr>
                      <m:t>𝑘</m:t>
                    </m:r>
                  </m:oMath>
                </a14:m>
                <a:r>
                  <a:rPr lang="es-ES" sz="2000" dirty="0"/>
                  <a:t>.</a:t>
                </a:r>
              </a:p>
              <a:p>
                <a:pPr>
                  <a:lnSpc>
                    <a:spcPct val="110000"/>
                  </a:lnSpc>
                  <a:spcBef>
                    <a:spcPts val="1800"/>
                  </a:spcBef>
                  <a:buFontTx/>
                  <a:buChar char="-"/>
                </a:pPr>
                <a:r>
                  <a:rPr lang="es-AR" sz="2000" b="0" dirty="0"/>
                  <a:t>Notemos que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8</m:t>
                        </m:r>
                      </m:e>
                    </m:d>
                    <m:r>
                      <a:rPr lang="es-AR" sz="2000" b="0" i="1" smtClean="0">
                        <a:latin typeface="Cambria Math" panose="02040503050406030204" pitchFamily="18" charset="0"/>
                      </a:rPr>
                      <m:t>=</m:t>
                    </m:r>
                    <m:r>
                      <a:rPr lang="es-AR" sz="2000" b="0" i="1" smtClean="0">
                        <a:latin typeface="Cambria Math" panose="02040503050406030204" pitchFamily="18" charset="0"/>
                      </a:rPr>
                      <m:t>𝑔</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8,1</m:t>
                        </m:r>
                      </m:e>
                    </m:d>
                    <m:r>
                      <a:rPr lang="es-AR" sz="2000" b="0" i="1" smtClean="0">
                        <a:latin typeface="Cambria Math" panose="02040503050406030204" pitchFamily="18" charset="0"/>
                      </a:rPr>
                      <m:t>+</m:t>
                    </m:r>
                    <m:r>
                      <m:rPr>
                        <m:sty m:val="p"/>
                      </m:rPr>
                      <a:rPr lang="es-AR" sz="2000" b="0" i="0" smtClean="0">
                        <a:latin typeface="Cambria Math" panose="02040503050406030204" pitchFamily="18" charset="0"/>
                      </a:rPr>
                      <m:t>g</m:t>
                    </m:r>
                    <m:d>
                      <m:dPr>
                        <m:ctrlPr>
                          <a:rPr lang="es-AR" sz="2000" b="0" i="1" smtClean="0">
                            <a:latin typeface="Cambria Math" panose="02040503050406030204" pitchFamily="18" charset="0"/>
                          </a:rPr>
                        </m:ctrlPr>
                      </m:dPr>
                      <m:e>
                        <m:r>
                          <a:rPr lang="es-AR" sz="2000" b="0" i="0" smtClean="0">
                            <a:latin typeface="Cambria Math" panose="02040503050406030204" pitchFamily="18" charset="0"/>
                          </a:rPr>
                          <m:t>8,3</m:t>
                        </m:r>
                      </m:e>
                    </m:d>
                    <m:r>
                      <a:rPr lang="es-AR" sz="2000" b="0" i="0" smtClean="0">
                        <a:latin typeface="Cambria Math" panose="02040503050406030204" pitchFamily="18" charset="0"/>
                      </a:rPr>
                      <m:t>+</m:t>
                    </m:r>
                    <m:r>
                      <m:rPr>
                        <m:sty m:val="p"/>
                      </m:rPr>
                      <a:rPr lang="es-AR" sz="2000" b="0" i="0" smtClean="0">
                        <a:latin typeface="Cambria Math" panose="02040503050406030204" pitchFamily="18" charset="0"/>
                      </a:rPr>
                      <m:t>g</m:t>
                    </m:r>
                    <m:d>
                      <m:dPr>
                        <m:ctrlPr>
                          <a:rPr lang="es-AR" sz="2000" b="0" i="1" smtClean="0">
                            <a:latin typeface="Cambria Math" panose="02040503050406030204" pitchFamily="18" charset="0"/>
                          </a:rPr>
                        </m:ctrlPr>
                      </m:dPr>
                      <m:e>
                        <m:r>
                          <a:rPr lang="es-AR" sz="2000" b="0" i="0" smtClean="0">
                            <a:latin typeface="Cambria Math" panose="02040503050406030204" pitchFamily="18" charset="0"/>
                          </a:rPr>
                          <m:t>8,5</m:t>
                        </m:r>
                      </m:e>
                    </m:d>
                    <m:r>
                      <a:rPr lang="es-AR" sz="2000" b="0" i="0" smtClean="0">
                        <a:latin typeface="Cambria Math" panose="02040503050406030204" pitchFamily="18" charset="0"/>
                      </a:rPr>
                      <m:t>+</m:t>
                    </m:r>
                    <m:r>
                      <m:rPr>
                        <m:sty m:val="p"/>
                      </m:rPr>
                      <a:rPr lang="es-AR" sz="2000" b="0" i="0" smtClean="0">
                        <a:latin typeface="Cambria Math" panose="02040503050406030204" pitchFamily="18" charset="0"/>
                      </a:rPr>
                      <m:t>g</m:t>
                    </m:r>
                    <m:d>
                      <m:dPr>
                        <m:ctrlPr>
                          <a:rPr lang="es-AR" sz="2000" b="0" i="1" smtClean="0">
                            <a:latin typeface="Cambria Math" panose="02040503050406030204" pitchFamily="18" charset="0"/>
                          </a:rPr>
                        </m:ctrlPr>
                      </m:dPr>
                      <m:e>
                        <m:r>
                          <a:rPr lang="es-AR" sz="2000" b="0" i="0" smtClean="0">
                            <a:latin typeface="Cambria Math" panose="02040503050406030204" pitchFamily="18" charset="0"/>
                          </a:rPr>
                          <m:t>8,7</m:t>
                        </m:r>
                      </m:e>
                    </m:d>
                    <m:r>
                      <a:rPr lang="es-AR" sz="2000" b="0" i="0" smtClean="0">
                        <a:latin typeface="Cambria Math" panose="02040503050406030204" pitchFamily="18" charset="0"/>
                      </a:rPr>
                      <m:t>+</m:t>
                    </m:r>
                    <m:r>
                      <m:rPr>
                        <m:sty m:val="p"/>
                      </m:rPr>
                      <a:rPr lang="es-AR" sz="2000" b="0" i="0" smtClean="0">
                        <a:latin typeface="Cambria Math" panose="02040503050406030204" pitchFamily="18" charset="0"/>
                      </a:rPr>
                      <m:t>g</m:t>
                    </m:r>
                    <m:r>
                      <a:rPr lang="es-AR" sz="2000" b="0" i="0" smtClean="0">
                        <a:latin typeface="Cambria Math" panose="02040503050406030204" pitchFamily="18" charset="0"/>
                      </a:rPr>
                      <m:t>(8,9).</m:t>
                    </m:r>
                  </m:oMath>
                </a14:m>
                <a:endParaRPr lang="es-ES" sz="2000" b="0" dirty="0"/>
              </a:p>
              <a:p>
                <a:pPr>
                  <a:lnSpc>
                    <a:spcPct val="110000"/>
                  </a:lnSpc>
                  <a:spcBef>
                    <a:spcPts val="1800"/>
                  </a:spcBef>
                  <a:buFontTx/>
                  <a:buChar char="-"/>
                </a:pPr>
                <a:r>
                  <a:rPr lang="es-ES" sz="2000" dirty="0"/>
                  <a:t>Sabiendo todos los </a:t>
                </a:r>
                <a14:m>
                  <m:oMath xmlns:m="http://schemas.openxmlformats.org/officeDocument/2006/math">
                    <m:r>
                      <a:rPr lang="es-AR" sz="2000" b="0" i="1" smtClean="0">
                        <a:latin typeface="Cambria Math" panose="02040503050406030204" pitchFamily="18" charset="0"/>
                      </a:rPr>
                      <m:t>𝑔</m:t>
                    </m:r>
                    <m:r>
                      <a:rPr lang="es-AR" sz="2000" b="0" i="1" smtClean="0">
                        <a:latin typeface="Cambria Math" panose="02040503050406030204" pitchFamily="18" charset="0"/>
                      </a:rPr>
                      <m:t>(7,</m:t>
                    </m:r>
                    <m:r>
                      <a:rPr lang="es-AR" sz="2000" b="0" i="1" smtClean="0">
                        <a:latin typeface="Cambria Math" panose="02040503050406030204" pitchFamily="18" charset="0"/>
                      </a:rPr>
                      <m:t>𝑘</m:t>
                    </m:r>
                    <m:r>
                      <a:rPr lang="es-AR" sz="2000" b="0" i="1" smtClean="0">
                        <a:latin typeface="Cambria Math" panose="02040503050406030204" pitchFamily="18" charset="0"/>
                      </a:rPr>
                      <m:t>)</m:t>
                    </m:r>
                  </m:oMath>
                </a14:m>
                <a:r>
                  <a:rPr lang="es-AR" sz="2000" b="0" dirty="0"/>
                  <a:t>, veamos que ahora es más fácil obtener todos </a:t>
                </a:r>
                <a14:m>
                  <m:oMath xmlns:m="http://schemas.openxmlformats.org/officeDocument/2006/math">
                    <m:r>
                      <a:rPr lang="es-AR" sz="2000" b="0" i="1" smtClean="0">
                        <a:latin typeface="Cambria Math" panose="02040503050406030204" pitchFamily="18" charset="0"/>
                      </a:rPr>
                      <m:t>𝑔</m:t>
                    </m:r>
                    <m:r>
                      <a:rPr lang="es-AR" sz="2000" b="0" i="1" smtClean="0">
                        <a:latin typeface="Cambria Math" panose="02040503050406030204" pitchFamily="18" charset="0"/>
                      </a:rPr>
                      <m:t>(8,</m:t>
                    </m:r>
                    <m:r>
                      <a:rPr lang="es-AR" sz="2000" b="0" i="1" smtClean="0">
                        <a:latin typeface="Cambria Math" panose="02040503050406030204" pitchFamily="18" charset="0"/>
                      </a:rPr>
                      <m:t>𝑘</m:t>
                    </m:r>
                    <m:r>
                      <a:rPr lang="es-AR" sz="2000" b="0" i="1" smtClean="0">
                        <a:latin typeface="Cambria Math" panose="02040503050406030204" pitchFamily="18" charset="0"/>
                      </a:rPr>
                      <m:t>)</m:t>
                    </m:r>
                  </m:oMath>
                </a14:m>
                <a:endParaRPr lang="es-AR" sz="2000" b="0" dirty="0"/>
              </a:p>
            </p:txBody>
          </p:sp>
        </mc:Choice>
        <mc:Fallback xmlns="">
          <p:sp>
            <p:nvSpPr>
              <p:cNvPr id="3" name="Content Placeholder 2">
                <a:extLst>
                  <a:ext uri="{FF2B5EF4-FFF2-40B4-BE49-F238E27FC236}">
                    <a16:creationId xmlns:a16="http://schemas.microsoft.com/office/drawing/2014/main" id="{5EE3D0B8-86AB-4CF3-AD33-211B2D91872E}"/>
                  </a:ext>
                </a:extLst>
              </p:cNvPr>
              <p:cNvSpPr>
                <a:spLocks noGrp="1" noRot="1" noChangeAspect="1" noMove="1" noResize="1" noEditPoints="1" noAdjustHandles="1" noChangeArrowheads="1" noChangeShapeType="1" noTextEdit="1"/>
              </p:cNvSpPr>
              <p:nvPr>
                <p:ph idx="1"/>
              </p:nvPr>
            </p:nvSpPr>
            <p:spPr>
              <a:xfrm>
                <a:off x="1371599" y="2299725"/>
                <a:ext cx="9724031" cy="3683358"/>
              </a:xfrm>
              <a:blipFill>
                <a:blip r:embed="rId3"/>
                <a:stretch>
                  <a:fillRect l="-690"/>
                </a:stretch>
              </a:blipFill>
            </p:spPr>
            <p:txBody>
              <a:bodyPr/>
              <a:lstStyle/>
              <a:p>
                <a:r>
                  <a:rPr lang="en-US">
                    <a:noFill/>
                  </a:rPr>
                  <a:t> </a:t>
                </a:r>
              </a:p>
            </p:txBody>
          </p:sp>
        </mc:Fallback>
      </mc:AlternateContent>
    </p:spTree>
    <p:extLst>
      <p:ext uri="{BB962C8B-B14F-4D97-AF65-F5344CB8AC3E}">
        <p14:creationId xmlns:p14="http://schemas.microsoft.com/office/powerpoint/2010/main" val="1387437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343821-C978-388D-F971-6C06DF3E7AE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6122F64-8370-CE3C-2437-398E5786B18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29B3F2-A4EB-E6CB-121A-B25DCBD59B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2E065F9-FB19-6911-C6AD-C1914077D47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20C5913-5A02-CD34-FB59-6E27103134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A1F1AECB-8DE6-B457-42FD-68F107E6C24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F52CF41-7283-C33A-7772-6961D2706D78}"/>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C3B996B0-647B-C952-F773-F77EADDE9F0D}"/>
                  </a:ext>
                </a:extLst>
              </p:cNvPr>
              <p:cNvGraphicFramePr>
                <a:graphicFrameLocks noGrp="1"/>
              </p:cNvGraphicFramePr>
              <p:nvPr>
                <p:ph idx="1"/>
                <p:extLst>
                  <p:ext uri="{D42A27DB-BD31-4B8C-83A1-F6EECF244321}">
                    <p14:modId xmlns:p14="http://schemas.microsoft.com/office/powerpoint/2010/main" val="3276474165"/>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(8,1)</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(8,3)</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(8,5)</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(8,7)</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(8,9)</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C3B996B0-647B-C952-F773-F77EADDE9F0D}"/>
                  </a:ext>
                </a:extLst>
              </p:cNvPr>
              <p:cNvGraphicFramePr>
                <a:graphicFrameLocks noGrp="1"/>
              </p:cNvGraphicFramePr>
              <p:nvPr>
                <p:ph idx="1"/>
                <p:extLst>
                  <p:ext uri="{D42A27DB-BD31-4B8C-83A1-F6EECF244321}">
                    <p14:modId xmlns:p14="http://schemas.microsoft.com/office/powerpoint/2010/main" val="3276474165"/>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spTree>
    <p:extLst>
      <p:ext uri="{BB962C8B-B14F-4D97-AF65-F5344CB8AC3E}">
        <p14:creationId xmlns:p14="http://schemas.microsoft.com/office/powerpoint/2010/main" val="380719771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F3EA821-6654-C8F0-C665-DBD05D3B081F}"/>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5F66F97-458D-C0BC-346E-89583445D5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BEFE772F-C0C2-9181-5312-0BA5D14C3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909DE2B-A4D8-3599-2AFA-5B1D1CCF5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6334DA1-1B1E-9CF2-8D4F-40CA258C5DC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28E3DB75-2B5C-EDED-BFCE-4C33AA53F1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A83E4E-4CBC-065C-6914-C0DE137C2ABF}"/>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DF978617-AE87-4989-33D4-24EBD97EBB33}"/>
                  </a:ext>
                </a:extLst>
              </p:cNvPr>
              <p:cNvGraphicFramePr>
                <a:graphicFrameLocks noGrp="1"/>
              </p:cNvGraphicFramePr>
              <p:nvPr>
                <p:ph idx="1"/>
                <p:extLst>
                  <p:ext uri="{D42A27DB-BD31-4B8C-83A1-F6EECF244321}">
                    <p14:modId xmlns:p14="http://schemas.microsoft.com/office/powerpoint/2010/main" val="3802497641"/>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(8,3)</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(8,5)</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(8,7)</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(8,9)</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DF978617-AE87-4989-33D4-24EBD97EBB33}"/>
                  </a:ext>
                </a:extLst>
              </p:cNvPr>
              <p:cNvGraphicFramePr>
                <a:graphicFrameLocks noGrp="1"/>
              </p:cNvGraphicFramePr>
              <p:nvPr>
                <p:ph idx="1"/>
                <p:extLst>
                  <p:ext uri="{D42A27DB-BD31-4B8C-83A1-F6EECF244321}">
                    <p14:modId xmlns:p14="http://schemas.microsoft.com/office/powerpoint/2010/main" val="3802497641"/>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cxnSp>
        <p:nvCxnSpPr>
          <p:cNvPr id="5" name="Straight Arrow Connector 4">
            <a:extLst>
              <a:ext uri="{FF2B5EF4-FFF2-40B4-BE49-F238E27FC236}">
                <a16:creationId xmlns:a16="http://schemas.microsoft.com/office/drawing/2014/main" id="{EC92528F-377C-4F27-36B6-655868D6364D}"/>
              </a:ext>
            </a:extLst>
          </p:cNvPr>
          <p:cNvCxnSpPr>
            <a:cxnSpLocks/>
          </p:cNvCxnSpPr>
          <p:nvPr/>
        </p:nvCxnSpPr>
        <p:spPr>
          <a:xfrm flipH="1">
            <a:off x="4057650" y="2087418"/>
            <a:ext cx="3590059" cy="840509"/>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27414989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7ABC649-1CFF-6E3C-AE8F-EAC86F5E9BBB}"/>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FA08EAA-7EC4-706C-3399-8A6CF19946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A4B8F26-176E-BF53-9781-6858069A53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0465343-2D9D-12B1-B2BF-22BBC985D3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BFBADD53-01BA-023D-FDDC-282B595E74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A96E7F5-76ED-545A-724C-939C4B8EE7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5629E7E-FB2D-21EB-5198-82BD38F0E7BC}"/>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F32F00AA-D63C-2BC3-7273-F2E1464C52DD}"/>
                  </a:ext>
                </a:extLst>
              </p:cNvPr>
              <p:cNvGraphicFramePr>
                <a:graphicFrameLocks noGrp="1"/>
              </p:cNvGraphicFramePr>
              <p:nvPr>
                <p:ph idx="1"/>
                <p:extLst>
                  <p:ext uri="{D42A27DB-BD31-4B8C-83A1-F6EECF244321}">
                    <p14:modId xmlns:p14="http://schemas.microsoft.com/office/powerpoint/2010/main" val="2818151130"/>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8,3</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(8,5)</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(8,7)</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(8,9)</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F32F00AA-D63C-2BC3-7273-F2E1464C52DD}"/>
                  </a:ext>
                </a:extLst>
              </p:cNvPr>
              <p:cNvGraphicFramePr>
                <a:graphicFrameLocks noGrp="1"/>
              </p:cNvGraphicFramePr>
              <p:nvPr>
                <p:ph idx="1"/>
                <p:extLst>
                  <p:ext uri="{D42A27DB-BD31-4B8C-83A1-F6EECF244321}">
                    <p14:modId xmlns:p14="http://schemas.microsoft.com/office/powerpoint/2010/main" val="2818151130"/>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cxnSp>
        <p:nvCxnSpPr>
          <p:cNvPr id="5" name="Straight Arrow Connector 4">
            <a:extLst>
              <a:ext uri="{FF2B5EF4-FFF2-40B4-BE49-F238E27FC236}">
                <a16:creationId xmlns:a16="http://schemas.microsoft.com/office/drawing/2014/main" id="{B2D9E505-5E23-1434-2062-E253B1627557}"/>
              </a:ext>
            </a:extLst>
          </p:cNvPr>
          <p:cNvCxnSpPr>
            <a:cxnSpLocks/>
          </p:cNvCxnSpPr>
          <p:nvPr/>
        </p:nvCxnSpPr>
        <p:spPr>
          <a:xfrm flipH="1" flipV="1">
            <a:off x="4221018" y="2096655"/>
            <a:ext cx="3094182" cy="831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D0B67A68-22F5-E545-9C4B-F9474E000295}"/>
              </a:ext>
            </a:extLst>
          </p:cNvPr>
          <p:cNvCxnSpPr>
            <a:cxnSpLocks/>
          </p:cNvCxnSpPr>
          <p:nvPr/>
        </p:nvCxnSpPr>
        <p:spPr>
          <a:xfrm flipH="1">
            <a:off x="4221018" y="2927927"/>
            <a:ext cx="3094182" cy="905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4173201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637F84-BDF0-97C4-DE63-53FA1C118347}"/>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81C7B2A-EA6F-39FA-E6F9-7AE917C61F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AFDC633-5AAB-A67F-3A15-CBF8F74BAC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3AC397D-691D-2CE3-44F3-1A7F32407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D4CBD2-709A-5DC1-9F58-31156A3D56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2FC13E6-61A8-D2E2-CF5D-326AAF5A18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0A2D693-2C54-C0C8-D401-6E7B4ECAD445}"/>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492AA606-3FB7-ACA9-00AC-8A67D65F3309}"/>
                  </a:ext>
                </a:extLst>
              </p:cNvPr>
              <p:cNvGraphicFramePr>
                <a:graphicFrameLocks noGrp="1"/>
              </p:cNvGraphicFramePr>
              <p:nvPr>
                <p:ph idx="1"/>
                <p:extLst>
                  <p:ext uri="{D42A27DB-BD31-4B8C-83A1-F6EECF244321}">
                    <p14:modId xmlns:p14="http://schemas.microsoft.com/office/powerpoint/2010/main" val="3138527922"/>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8,3</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8,5</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7,3</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(8,7)</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(8,9)</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492AA606-3FB7-ACA9-00AC-8A67D65F3309}"/>
                  </a:ext>
                </a:extLst>
              </p:cNvPr>
              <p:cNvGraphicFramePr>
                <a:graphicFrameLocks noGrp="1"/>
              </p:cNvGraphicFramePr>
              <p:nvPr>
                <p:ph idx="1"/>
                <p:extLst>
                  <p:ext uri="{D42A27DB-BD31-4B8C-83A1-F6EECF244321}">
                    <p14:modId xmlns:p14="http://schemas.microsoft.com/office/powerpoint/2010/main" val="3138527922"/>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cxnSp>
        <p:nvCxnSpPr>
          <p:cNvPr id="5" name="Straight Arrow Connector 4">
            <a:extLst>
              <a:ext uri="{FF2B5EF4-FFF2-40B4-BE49-F238E27FC236}">
                <a16:creationId xmlns:a16="http://schemas.microsoft.com/office/drawing/2014/main" id="{441D0804-042D-3439-E446-DA1C29B4EB41}"/>
              </a:ext>
            </a:extLst>
          </p:cNvPr>
          <p:cNvCxnSpPr>
            <a:cxnSpLocks/>
          </p:cNvCxnSpPr>
          <p:nvPr/>
        </p:nvCxnSpPr>
        <p:spPr>
          <a:xfrm flipH="1" flipV="1">
            <a:off x="4100945" y="3013364"/>
            <a:ext cx="3094182" cy="831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32483342-28B9-1A74-4899-C1824052BAB1}"/>
              </a:ext>
            </a:extLst>
          </p:cNvPr>
          <p:cNvCxnSpPr>
            <a:cxnSpLocks/>
          </p:cNvCxnSpPr>
          <p:nvPr/>
        </p:nvCxnSpPr>
        <p:spPr>
          <a:xfrm flipH="1">
            <a:off x="4100945" y="3844636"/>
            <a:ext cx="3094182" cy="905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93399327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0BA1A39-663E-4287-296B-EC017B7845D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E0ABBFC-DB2A-3F2D-054E-2C2E7EB560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4EB6A81-D512-7C97-47F5-63DEE08597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2A52F6D-8ABC-9FA4-74FE-B9642769E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F94789C-011D-AC2F-0B00-1761D5880D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6D21ADE-FD56-D5FB-5197-0A1939D297C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69D215-CCE6-F890-9C44-8E87415A5292}"/>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9386431D-CC5B-91F5-E21B-C6E22D76D400}"/>
                  </a:ext>
                </a:extLst>
              </p:cNvPr>
              <p:cNvGraphicFramePr>
                <a:graphicFrameLocks noGrp="1"/>
              </p:cNvGraphicFramePr>
              <p:nvPr>
                <p:ph idx="1"/>
                <p:extLst>
                  <p:ext uri="{D42A27DB-BD31-4B8C-83A1-F6EECF244321}">
                    <p14:modId xmlns:p14="http://schemas.microsoft.com/office/powerpoint/2010/main" val="2950113902"/>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8,3</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8,5</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7,3</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8,7</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7,5</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(8,9)</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9386431D-CC5B-91F5-E21B-C6E22D76D400}"/>
                  </a:ext>
                </a:extLst>
              </p:cNvPr>
              <p:cNvGraphicFramePr>
                <a:graphicFrameLocks noGrp="1"/>
              </p:cNvGraphicFramePr>
              <p:nvPr>
                <p:ph idx="1"/>
                <p:extLst>
                  <p:ext uri="{D42A27DB-BD31-4B8C-83A1-F6EECF244321}">
                    <p14:modId xmlns:p14="http://schemas.microsoft.com/office/powerpoint/2010/main" val="2950113902"/>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cxnSp>
        <p:nvCxnSpPr>
          <p:cNvPr id="5" name="Straight Arrow Connector 4">
            <a:extLst>
              <a:ext uri="{FF2B5EF4-FFF2-40B4-BE49-F238E27FC236}">
                <a16:creationId xmlns:a16="http://schemas.microsoft.com/office/drawing/2014/main" id="{6B173E76-72CB-66F1-9D7C-97789DD63DA2}"/>
              </a:ext>
            </a:extLst>
          </p:cNvPr>
          <p:cNvCxnSpPr>
            <a:cxnSpLocks/>
          </p:cNvCxnSpPr>
          <p:nvPr/>
        </p:nvCxnSpPr>
        <p:spPr>
          <a:xfrm flipH="1" flipV="1">
            <a:off x="4100945" y="3946236"/>
            <a:ext cx="3094182" cy="831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cxnSp>
        <p:nvCxnSpPr>
          <p:cNvPr id="7" name="Straight Arrow Connector 6">
            <a:extLst>
              <a:ext uri="{FF2B5EF4-FFF2-40B4-BE49-F238E27FC236}">
                <a16:creationId xmlns:a16="http://schemas.microsoft.com/office/drawing/2014/main" id="{997E6E0F-E358-D8DD-7C06-AAA24E81EB5C}"/>
              </a:ext>
            </a:extLst>
          </p:cNvPr>
          <p:cNvCxnSpPr>
            <a:cxnSpLocks/>
          </p:cNvCxnSpPr>
          <p:nvPr/>
        </p:nvCxnSpPr>
        <p:spPr>
          <a:xfrm flipH="1">
            <a:off x="4100945" y="4777508"/>
            <a:ext cx="3094182" cy="905164"/>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2971549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7EB1590-175E-61BC-3528-CEBDCCAEC6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6CB985E3-FFAB-6D6A-B8CC-4FE2A44DCF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DA32F798-FF54-74E0-421E-434C3F6DDD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212BDBA-282B-AB68-996C-D857882E22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88CF939-5869-B046-893B-561A35F08D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F2F42799-5A68-EEE4-0698-63704C8AE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63EE4B-25A2-558E-812A-1CC40010DEEB}"/>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graphicFrame>
            <p:nvGraphicFramePr>
              <p:cNvPr id="4" name="Content Placeholder 3">
                <a:extLst>
                  <a:ext uri="{FF2B5EF4-FFF2-40B4-BE49-F238E27FC236}">
                    <a16:creationId xmlns:a16="http://schemas.microsoft.com/office/drawing/2014/main" id="{F623096E-4549-D087-CA2B-E77E3BBC526B}"/>
                  </a:ext>
                </a:extLst>
              </p:cNvPr>
              <p:cNvGraphicFramePr>
                <a:graphicFrameLocks noGrp="1"/>
              </p:cNvGraphicFramePr>
              <p:nvPr>
                <p:ph idx="1"/>
                <p:extLst>
                  <p:ext uri="{D42A27DB-BD31-4B8C-83A1-F6EECF244321}">
                    <p14:modId xmlns:p14="http://schemas.microsoft.com/office/powerpoint/2010/main" val="110981498"/>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(7,1)</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extLst>
                      <a:ext uri="{0D108BD9-81ED-4DB2-BD59-A6C34878D82A}">
                        <a16:rowId xmlns:a16="http://schemas.microsoft.com/office/drawing/2014/main" val="39771775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(7,3)</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8,3</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7,1</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extLst>
                      <a:ext uri="{0D108BD9-81ED-4DB2-BD59-A6C34878D82A}">
                        <a16:rowId xmlns:a16="http://schemas.microsoft.com/office/drawing/2014/main" val="4165884403"/>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(7,5)</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8,5</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7,3</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extLst>
                      <a:ext uri="{0D108BD9-81ED-4DB2-BD59-A6C34878D82A}">
                        <a16:rowId xmlns:a16="http://schemas.microsoft.com/office/drawing/2014/main" val="42103351"/>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8,7</m:t>
                                    </m:r>
                                  </m:e>
                                </m:d>
                                <m:r>
                                  <a:rPr lang="es-AR" b="0" i="1" smtClean="0">
                                    <a:latin typeface="Cambria Math" panose="02040503050406030204" pitchFamily="18" charset="0"/>
                                  </a:rPr>
                                  <m:t>=</m:t>
                                </m:r>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7,5</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extLst>
                      <a:ext uri="{0D108BD9-81ED-4DB2-BD59-A6C34878D82A}">
                        <a16:rowId xmlns:a16="http://schemas.microsoft.com/office/drawing/2014/main" val="1036179330"/>
                      </a:ext>
                    </a:extLst>
                  </a:tr>
                  <a:tr h="918730">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r>
                                  <a:rPr lang="es-AR" b="0" i="1" smtClean="0">
                                    <a:latin typeface="Cambria Math" panose="02040503050406030204" pitchFamily="18" charset="0"/>
                                  </a:rPr>
                                  <m:t>(7,9)</m:t>
                                </m:r>
                              </m:oMath>
                            </m:oMathPara>
                          </a14:m>
                          <a:endParaRPr lang="en-US" dirty="0"/>
                        </a:p>
                      </a:txBody>
                      <a:tcPr/>
                    </a:tc>
                    <a:tc>
                      <a:txBody>
                        <a:bodyPr/>
                        <a:lstStyle/>
                        <a:p>
                          <a:pPr/>
                          <a14:m>
                            <m:oMathPara xmlns:m="http://schemas.openxmlformats.org/officeDocument/2006/math">
                              <m:oMathParaPr>
                                <m:jc m:val="centerGroup"/>
                              </m:oMathParaPr>
                              <m:oMath xmlns:m="http://schemas.openxmlformats.org/officeDocument/2006/math">
                                <m:r>
                                  <a:rPr lang="es-AR" b="0" i="1" smtClean="0">
                                    <a:latin typeface="Cambria Math" panose="02040503050406030204" pitchFamily="18" charset="0"/>
                                  </a:rPr>
                                  <m:t>𝑔</m:t>
                                </m:r>
                                <m:d>
                                  <m:dPr>
                                    <m:ctrlPr>
                                      <a:rPr lang="es-AR" b="0" i="1" smtClean="0">
                                        <a:latin typeface="Cambria Math" panose="02040503050406030204" pitchFamily="18" charset="0"/>
                                      </a:rPr>
                                    </m:ctrlPr>
                                  </m:dPr>
                                  <m:e>
                                    <m:r>
                                      <a:rPr lang="es-AR" b="0" i="1" smtClean="0">
                                        <a:latin typeface="Cambria Math" panose="02040503050406030204" pitchFamily="18" charset="0"/>
                                      </a:rPr>
                                      <m:t>8,9</m:t>
                                    </m:r>
                                  </m:e>
                                </m:d>
                                <m:r>
                                  <a:rPr lang="es-AR" b="0" i="1" smtClean="0">
                                    <a:latin typeface="Cambria Math" panose="02040503050406030204" pitchFamily="18" charset="0"/>
                                  </a:rPr>
                                  <m:t>=</m:t>
                                </m:r>
                                <m:r>
                                  <a:rPr lang="es-AR" b="0" i="1" smtClean="0">
                                    <a:latin typeface="Cambria Math" panose="02040503050406030204" pitchFamily="18" charset="0"/>
                                  </a:rPr>
                                  <m:t>𝑔</m:t>
                                </m:r>
                                <m:r>
                                  <a:rPr lang="es-AR" b="0" i="1" smtClean="0">
                                    <a:latin typeface="Cambria Math" panose="02040503050406030204" pitchFamily="18" charset="0"/>
                                  </a:rPr>
                                  <m:t>(7,7)</m:t>
                                </m:r>
                              </m:oMath>
                            </m:oMathPara>
                          </a14:m>
                          <a:endParaRPr lang="en-US" dirty="0"/>
                        </a:p>
                      </a:txBody>
                      <a:tcPr/>
                    </a:tc>
                    <a:extLst>
                      <a:ext uri="{0D108BD9-81ED-4DB2-BD59-A6C34878D82A}">
                        <a16:rowId xmlns:a16="http://schemas.microsoft.com/office/drawing/2014/main" val="2735012987"/>
                      </a:ext>
                    </a:extLst>
                  </a:tr>
                </a:tbl>
              </a:graphicData>
            </a:graphic>
          </p:graphicFrame>
        </mc:Choice>
        <mc:Fallback xmlns="">
          <p:graphicFrame>
            <p:nvGraphicFramePr>
              <p:cNvPr id="4" name="Content Placeholder 3">
                <a:extLst>
                  <a:ext uri="{FF2B5EF4-FFF2-40B4-BE49-F238E27FC236}">
                    <a16:creationId xmlns:a16="http://schemas.microsoft.com/office/drawing/2014/main" id="{F623096E-4549-D087-CA2B-E77E3BBC526B}"/>
                  </a:ext>
                </a:extLst>
              </p:cNvPr>
              <p:cNvGraphicFramePr>
                <a:graphicFrameLocks noGrp="1"/>
              </p:cNvGraphicFramePr>
              <p:nvPr>
                <p:ph idx="1"/>
                <p:extLst>
                  <p:ext uri="{D42A27DB-BD31-4B8C-83A1-F6EECF244321}">
                    <p14:modId xmlns:p14="http://schemas.microsoft.com/office/powerpoint/2010/main" val="110981498"/>
                  </p:ext>
                </p:extLst>
              </p:nvPr>
            </p:nvGraphicFramePr>
            <p:xfrm>
              <a:off x="838200" y="1825625"/>
              <a:ext cx="10515600" cy="4593650"/>
            </p:xfrm>
            <a:graphic>
              <a:graphicData uri="http://schemas.openxmlformats.org/drawingml/2006/table">
                <a:tbl>
                  <a:tblPr firstRow="1" bandRow="1">
                    <a:tableStyleId>{2D5ABB26-0587-4C30-8999-92F81FD0307C}</a:tableStyleId>
                  </a:tblPr>
                  <a:tblGrid>
                    <a:gridCol w="5257800">
                      <a:extLst>
                        <a:ext uri="{9D8B030D-6E8A-4147-A177-3AD203B41FA5}">
                          <a16:colId xmlns:a16="http://schemas.microsoft.com/office/drawing/2014/main" val="974367152"/>
                        </a:ext>
                      </a:extLst>
                    </a:gridCol>
                    <a:gridCol w="5257800">
                      <a:extLst>
                        <a:ext uri="{9D8B030D-6E8A-4147-A177-3AD203B41FA5}">
                          <a16:colId xmlns:a16="http://schemas.microsoft.com/office/drawing/2014/main" val="4268200319"/>
                        </a:ext>
                      </a:extLst>
                    </a:gridCol>
                  </a:tblGrid>
                  <a:tr h="918730">
                    <a:tc>
                      <a:txBody>
                        <a:bodyPr/>
                        <a:lstStyle/>
                        <a:p>
                          <a:endParaRPr lang="en-US"/>
                        </a:p>
                      </a:txBody>
                      <a:tcPr>
                        <a:blipFill>
                          <a:blip r:embed="rId3"/>
                          <a:stretch>
                            <a:fillRect r="-100000" b="-400000"/>
                          </a:stretch>
                        </a:blipFill>
                      </a:tcPr>
                    </a:tc>
                    <a:tc>
                      <a:txBody>
                        <a:bodyPr/>
                        <a:lstStyle/>
                        <a:p>
                          <a:endParaRPr lang="en-US"/>
                        </a:p>
                      </a:txBody>
                      <a:tcPr>
                        <a:blipFill>
                          <a:blip r:embed="rId3"/>
                          <a:stretch>
                            <a:fillRect l="-100000" b="-400000"/>
                          </a:stretch>
                        </a:blipFill>
                      </a:tcPr>
                    </a:tc>
                    <a:extLst>
                      <a:ext uri="{0D108BD9-81ED-4DB2-BD59-A6C34878D82A}">
                        <a16:rowId xmlns:a16="http://schemas.microsoft.com/office/drawing/2014/main" val="3977177503"/>
                      </a:ext>
                    </a:extLst>
                  </a:tr>
                  <a:tr h="918730">
                    <a:tc>
                      <a:txBody>
                        <a:bodyPr/>
                        <a:lstStyle/>
                        <a:p>
                          <a:endParaRPr lang="en-US"/>
                        </a:p>
                      </a:txBody>
                      <a:tcPr>
                        <a:blipFill>
                          <a:blip r:embed="rId3"/>
                          <a:stretch>
                            <a:fillRect t="-100000" r="-100000" b="-300000"/>
                          </a:stretch>
                        </a:blipFill>
                      </a:tcPr>
                    </a:tc>
                    <a:tc>
                      <a:txBody>
                        <a:bodyPr/>
                        <a:lstStyle/>
                        <a:p>
                          <a:endParaRPr lang="en-US"/>
                        </a:p>
                      </a:txBody>
                      <a:tcPr>
                        <a:blipFill>
                          <a:blip r:embed="rId3"/>
                          <a:stretch>
                            <a:fillRect l="-100000" t="-100000" b="-300000"/>
                          </a:stretch>
                        </a:blipFill>
                      </a:tcPr>
                    </a:tc>
                    <a:extLst>
                      <a:ext uri="{0D108BD9-81ED-4DB2-BD59-A6C34878D82A}">
                        <a16:rowId xmlns:a16="http://schemas.microsoft.com/office/drawing/2014/main" val="4165884403"/>
                      </a:ext>
                    </a:extLst>
                  </a:tr>
                  <a:tr h="918730">
                    <a:tc>
                      <a:txBody>
                        <a:bodyPr/>
                        <a:lstStyle/>
                        <a:p>
                          <a:endParaRPr lang="en-US"/>
                        </a:p>
                      </a:txBody>
                      <a:tcPr>
                        <a:blipFill>
                          <a:blip r:embed="rId3"/>
                          <a:stretch>
                            <a:fillRect t="-200000" r="-100000" b="-200000"/>
                          </a:stretch>
                        </a:blipFill>
                      </a:tcPr>
                    </a:tc>
                    <a:tc>
                      <a:txBody>
                        <a:bodyPr/>
                        <a:lstStyle/>
                        <a:p>
                          <a:endParaRPr lang="en-US"/>
                        </a:p>
                      </a:txBody>
                      <a:tcPr>
                        <a:blipFill>
                          <a:blip r:embed="rId3"/>
                          <a:stretch>
                            <a:fillRect l="-100000" t="-200000" b="-200000"/>
                          </a:stretch>
                        </a:blipFill>
                      </a:tcPr>
                    </a:tc>
                    <a:extLst>
                      <a:ext uri="{0D108BD9-81ED-4DB2-BD59-A6C34878D82A}">
                        <a16:rowId xmlns:a16="http://schemas.microsoft.com/office/drawing/2014/main" val="42103351"/>
                      </a:ext>
                    </a:extLst>
                  </a:tr>
                  <a:tr h="918730">
                    <a:tc>
                      <a:txBody>
                        <a:bodyPr/>
                        <a:lstStyle/>
                        <a:p>
                          <a:endParaRPr lang="en-US"/>
                        </a:p>
                      </a:txBody>
                      <a:tcPr>
                        <a:blipFill>
                          <a:blip r:embed="rId3"/>
                          <a:stretch>
                            <a:fillRect t="-300000" r="-100000" b="-100000"/>
                          </a:stretch>
                        </a:blipFill>
                      </a:tcPr>
                    </a:tc>
                    <a:tc>
                      <a:txBody>
                        <a:bodyPr/>
                        <a:lstStyle/>
                        <a:p>
                          <a:endParaRPr lang="en-US"/>
                        </a:p>
                      </a:txBody>
                      <a:tcPr>
                        <a:blipFill>
                          <a:blip r:embed="rId3"/>
                          <a:stretch>
                            <a:fillRect l="-100000" t="-300000" b="-100000"/>
                          </a:stretch>
                        </a:blipFill>
                      </a:tcPr>
                    </a:tc>
                    <a:extLst>
                      <a:ext uri="{0D108BD9-81ED-4DB2-BD59-A6C34878D82A}">
                        <a16:rowId xmlns:a16="http://schemas.microsoft.com/office/drawing/2014/main" val="1036179330"/>
                      </a:ext>
                    </a:extLst>
                  </a:tr>
                  <a:tr h="918730">
                    <a:tc>
                      <a:txBody>
                        <a:bodyPr/>
                        <a:lstStyle/>
                        <a:p>
                          <a:endParaRPr lang="en-US"/>
                        </a:p>
                      </a:txBody>
                      <a:tcPr>
                        <a:blipFill>
                          <a:blip r:embed="rId3"/>
                          <a:stretch>
                            <a:fillRect t="-400000" r="-100000"/>
                          </a:stretch>
                        </a:blipFill>
                      </a:tcPr>
                    </a:tc>
                    <a:tc>
                      <a:txBody>
                        <a:bodyPr/>
                        <a:lstStyle/>
                        <a:p>
                          <a:endParaRPr lang="en-US"/>
                        </a:p>
                      </a:txBody>
                      <a:tcPr>
                        <a:blipFill>
                          <a:blip r:embed="rId3"/>
                          <a:stretch>
                            <a:fillRect l="-100000" t="-400000"/>
                          </a:stretch>
                        </a:blipFill>
                      </a:tcPr>
                    </a:tc>
                    <a:extLst>
                      <a:ext uri="{0D108BD9-81ED-4DB2-BD59-A6C34878D82A}">
                        <a16:rowId xmlns:a16="http://schemas.microsoft.com/office/drawing/2014/main" val="2735012987"/>
                      </a:ext>
                    </a:extLst>
                  </a:tr>
                </a:tbl>
              </a:graphicData>
            </a:graphic>
          </p:graphicFrame>
        </mc:Fallback>
      </mc:AlternateContent>
      <p:cxnSp>
        <p:nvCxnSpPr>
          <p:cNvPr id="5" name="Straight Arrow Connector 4">
            <a:extLst>
              <a:ext uri="{FF2B5EF4-FFF2-40B4-BE49-F238E27FC236}">
                <a16:creationId xmlns:a16="http://schemas.microsoft.com/office/drawing/2014/main" id="{1D4D4294-567E-1C64-E36A-6CE37EE41FAE}"/>
              </a:ext>
            </a:extLst>
          </p:cNvPr>
          <p:cNvCxnSpPr>
            <a:cxnSpLocks/>
          </p:cNvCxnSpPr>
          <p:nvPr/>
        </p:nvCxnSpPr>
        <p:spPr>
          <a:xfrm flipH="1" flipV="1">
            <a:off x="4057650" y="4805218"/>
            <a:ext cx="3094182" cy="831272"/>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6069283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D649A1D-F99D-9D62-5D24-3C79A63C081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34A8678-CDFE-8E87-99BD-2E279F9A20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F6578D34-76C5-CF08-E862-47C290B357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BEA9C85A-E507-C0F9-84A3-E500477754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F18C639B-22B7-7133-1193-F852F0A449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9E2EE12F-85EE-B640-4072-FADC519592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398B760-1885-2BB2-3AB3-84667DFEB33B}"/>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C7A644EF-824B-5A49-6712-620B0D8A82EA}"/>
                  </a:ext>
                </a:extLst>
              </p:cNvPr>
              <p:cNvSpPr>
                <a:spLocks noGrp="1"/>
              </p:cNvSpPr>
              <p:nvPr>
                <p:ph idx="1"/>
              </p:nvPr>
            </p:nvSpPr>
            <p:spPr>
              <a:xfrm>
                <a:off x="1371599" y="2299725"/>
                <a:ext cx="9724031" cy="3683358"/>
              </a:xfrm>
            </p:spPr>
            <p:txBody>
              <a:bodyPr tIns="108000" bIns="108000" anchor="t" anchorCtr="0">
                <a:normAutofit/>
              </a:bodyPr>
              <a:lstStyle/>
              <a:p>
                <a:pPr>
                  <a:lnSpc>
                    <a:spcPct val="110000"/>
                  </a:lnSpc>
                  <a:spcBef>
                    <a:spcPts val="1800"/>
                  </a:spcBef>
                  <a:buFontTx/>
                  <a:buChar char="-"/>
                </a:pPr>
                <a:r>
                  <a:rPr lang="es-AR" sz="2000" b="0" dirty="0"/>
                  <a:t>Como aún no sabemos la cantidad de números facheros que existen de 7 dígitos, debemos hacer el mismo proceso en el paso 6 dígitos </a:t>
                </a:r>
                <a:r>
                  <a:rPr lang="es-AR" sz="2000" b="0" dirty="0">
                    <a:sym typeface="Wingdings" panose="05000000000000000000" pitchFamily="2" charset="2"/>
                  </a:rPr>
                  <a:t> 7 dígitos.</a:t>
                </a:r>
              </a:p>
              <a:p>
                <a:pPr>
                  <a:lnSpc>
                    <a:spcPct val="110000"/>
                  </a:lnSpc>
                  <a:spcBef>
                    <a:spcPts val="1800"/>
                  </a:spcBef>
                  <a:buFontTx/>
                  <a:buChar char="-"/>
                </a:pPr>
                <a:r>
                  <a:rPr lang="es-AR" sz="2000" dirty="0">
                    <a:sym typeface="Wingdings" panose="05000000000000000000" pitchFamily="2" charset="2"/>
                  </a:rPr>
                  <a:t>Recursivamente, vamos ir cada vez reduciendo la cantidad de dígitos, hasta llegar a un caso base o que sea trivial de resolver, que en este caso puede ser de un dígito.</a:t>
                </a:r>
              </a:p>
              <a:p>
                <a:pPr>
                  <a:lnSpc>
                    <a:spcPct val="110000"/>
                  </a:lnSpc>
                  <a:spcBef>
                    <a:spcPts val="1800"/>
                  </a:spcBef>
                  <a:buFontTx/>
                  <a:buChar char="-"/>
                </a:pPr>
                <a:r>
                  <a:rPr lang="es-AR" sz="2000" b="0" dirty="0">
                    <a:sym typeface="Wingdings" panose="05000000000000000000" pitchFamily="2" charset="2"/>
                  </a:rPr>
                  <a:t>Es fácil ver que </a:t>
                </a:r>
                <a14:m>
                  <m:oMath xmlns:m="http://schemas.openxmlformats.org/officeDocument/2006/math">
                    <m:r>
                      <a:rPr lang="es-AR" sz="2000" b="0" i="1" smtClean="0">
                        <a:latin typeface="Cambria Math" panose="02040503050406030204" pitchFamily="18" charset="0"/>
                        <a:sym typeface="Wingdings" panose="05000000000000000000" pitchFamily="2" charset="2"/>
                      </a:rPr>
                      <m:t>𝑔</m:t>
                    </m:r>
                    <m:d>
                      <m:dPr>
                        <m:ctrlPr>
                          <a:rPr lang="es-AR" sz="2000" b="0" i="1" smtClean="0">
                            <a:latin typeface="Cambria Math" panose="02040503050406030204" pitchFamily="18" charset="0"/>
                            <a:sym typeface="Wingdings" panose="05000000000000000000" pitchFamily="2" charset="2"/>
                          </a:rPr>
                        </m:ctrlPr>
                      </m:dPr>
                      <m:e>
                        <m:r>
                          <a:rPr lang="es-AR" sz="2000" b="0" i="1" smtClean="0">
                            <a:latin typeface="Cambria Math" panose="02040503050406030204" pitchFamily="18" charset="0"/>
                            <a:sym typeface="Wingdings" panose="05000000000000000000" pitchFamily="2" charset="2"/>
                          </a:rPr>
                          <m:t>1,1</m:t>
                        </m:r>
                      </m:e>
                    </m:d>
                    <m:r>
                      <a:rPr lang="es-AR" sz="2000" b="0" i="1" smtClean="0">
                        <a:latin typeface="Cambria Math" panose="02040503050406030204" pitchFamily="18" charset="0"/>
                        <a:sym typeface="Wingdings" panose="05000000000000000000" pitchFamily="2" charset="2"/>
                      </a:rPr>
                      <m:t>=</m:t>
                    </m:r>
                    <m:r>
                      <a:rPr lang="es-AR" sz="2000" b="0" i="1" smtClean="0">
                        <a:latin typeface="Cambria Math" panose="02040503050406030204" pitchFamily="18" charset="0"/>
                        <a:sym typeface="Wingdings" panose="05000000000000000000" pitchFamily="2" charset="2"/>
                      </a:rPr>
                      <m:t>𝑔</m:t>
                    </m:r>
                    <m:d>
                      <m:dPr>
                        <m:ctrlPr>
                          <a:rPr lang="es-AR" sz="2000" b="0" i="1" smtClean="0">
                            <a:latin typeface="Cambria Math" panose="02040503050406030204" pitchFamily="18" charset="0"/>
                            <a:sym typeface="Wingdings" panose="05000000000000000000" pitchFamily="2" charset="2"/>
                          </a:rPr>
                        </m:ctrlPr>
                      </m:dPr>
                      <m:e>
                        <m:r>
                          <a:rPr lang="es-AR" sz="2000" b="0" i="1" smtClean="0">
                            <a:latin typeface="Cambria Math" panose="02040503050406030204" pitchFamily="18" charset="0"/>
                            <a:sym typeface="Wingdings" panose="05000000000000000000" pitchFamily="2" charset="2"/>
                          </a:rPr>
                          <m:t>1,3</m:t>
                        </m:r>
                      </m:e>
                    </m:d>
                    <m:r>
                      <a:rPr lang="es-AR" sz="2000" b="0" i="1" smtClean="0">
                        <a:latin typeface="Cambria Math" panose="02040503050406030204" pitchFamily="18" charset="0"/>
                        <a:sym typeface="Wingdings" panose="05000000000000000000" pitchFamily="2" charset="2"/>
                      </a:rPr>
                      <m:t>=</m:t>
                    </m:r>
                    <m:r>
                      <a:rPr lang="es-AR" sz="2000" b="0" i="1" smtClean="0">
                        <a:latin typeface="Cambria Math" panose="02040503050406030204" pitchFamily="18" charset="0"/>
                        <a:sym typeface="Wingdings" panose="05000000000000000000" pitchFamily="2" charset="2"/>
                      </a:rPr>
                      <m:t>𝑔</m:t>
                    </m:r>
                    <m:d>
                      <m:dPr>
                        <m:ctrlPr>
                          <a:rPr lang="es-AR" sz="2000" b="0" i="1" smtClean="0">
                            <a:latin typeface="Cambria Math" panose="02040503050406030204" pitchFamily="18" charset="0"/>
                            <a:sym typeface="Wingdings" panose="05000000000000000000" pitchFamily="2" charset="2"/>
                          </a:rPr>
                        </m:ctrlPr>
                      </m:dPr>
                      <m:e>
                        <m:r>
                          <a:rPr lang="es-AR" sz="2000" b="0" i="1" smtClean="0">
                            <a:latin typeface="Cambria Math" panose="02040503050406030204" pitchFamily="18" charset="0"/>
                            <a:sym typeface="Wingdings" panose="05000000000000000000" pitchFamily="2" charset="2"/>
                          </a:rPr>
                          <m:t>1,5</m:t>
                        </m:r>
                      </m:e>
                    </m:d>
                    <m:r>
                      <a:rPr lang="es-AR" sz="2000" b="0" i="1" smtClean="0">
                        <a:latin typeface="Cambria Math" panose="02040503050406030204" pitchFamily="18" charset="0"/>
                        <a:sym typeface="Wingdings" panose="05000000000000000000" pitchFamily="2" charset="2"/>
                      </a:rPr>
                      <m:t>=</m:t>
                    </m:r>
                    <m:r>
                      <a:rPr lang="es-AR" sz="2000" b="0" i="1" smtClean="0">
                        <a:latin typeface="Cambria Math" panose="02040503050406030204" pitchFamily="18" charset="0"/>
                        <a:sym typeface="Wingdings" panose="05000000000000000000" pitchFamily="2" charset="2"/>
                      </a:rPr>
                      <m:t>𝑔</m:t>
                    </m:r>
                    <m:d>
                      <m:dPr>
                        <m:ctrlPr>
                          <a:rPr lang="es-AR" sz="2000" b="0" i="1" smtClean="0">
                            <a:latin typeface="Cambria Math" panose="02040503050406030204" pitchFamily="18" charset="0"/>
                            <a:sym typeface="Wingdings" panose="05000000000000000000" pitchFamily="2" charset="2"/>
                          </a:rPr>
                        </m:ctrlPr>
                      </m:dPr>
                      <m:e>
                        <m:r>
                          <a:rPr lang="es-AR" sz="2000" b="0" i="1" smtClean="0">
                            <a:latin typeface="Cambria Math" panose="02040503050406030204" pitchFamily="18" charset="0"/>
                            <a:sym typeface="Wingdings" panose="05000000000000000000" pitchFamily="2" charset="2"/>
                          </a:rPr>
                          <m:t>1,7</m:t>
                        </m:r>
                      </m:e>
                    </m:d>
                    <m:r>
                      <a:rPr lang="es-AR" sz="2000" b="0" i="1" smtClean="0">
                        <a:latin typeface="Cambria Math" panose="02040503050406030204" pitchFamily="18" charset="0"/>
                        <a:sym typeface="Wingdings" panose="05000000000000000000" pitchFamily="2" charset="2"/>
                      </a:rPr>
                      <m:t>=</m:t>
                    </m:r>
                    <m:r>
                      <a:rPr lang="es-AR" sz="2000" b="0" i="1" smtClean="0">
                        <a:latin typeface="Cambria Math" panose="02040503050406030204" pitchFamily="18" charset="0"/>
                        <a:sym typeface="Wingdings" panose="05000000000000000000" pitchFamily="2" charset="2"/>
                      </a:rPr>
                      <m:t>𝑔</m:t>
                    </m:r>
                    <m:d>
                      <m:dPr>
                        <m:ctrlPr>
                          <a:rPr lang="es-AR" sz="2000" b="0" i="1" smtClean="0">
                            <a:latin typeface="Cambria Math" panose="02040503050406030204" pitchFamily="18" charset="0"/>
                            <a:sym typeface="Wingdings" panose="05000000000000000000" pitchFamily="2" charset="2"/>
                          </a:rPr>
                        </m:ctrlPr>
                      </m:dPr>
                      <m:e>
                        <m:r>
                          <a:rPr lang="es-AR" sz="2000" b="0" i="1" smtClean="0">
                            <a:latin typeface="Cambria Math" panose="02040503050406030204" pitchFamily="18" charset="0"/>
                            <a:sym typeface="Wingdings" panose="05000000000000000000" pitchFamily="2" charset="2"/>
                          </a:rPr>
                          <m:t>1,9</m:t>
                        </m:r>
                      </m:e>
                    </m:d>
                    <m:r>
                      <a:rPr lang="es-AR" sz="2000" b="0" i="1" smtClean="0">
                        <a:latin typeface="Cambria Math" panose="02040503050406030204" pitchFamily="18" charset="0"/>
                        <a:sym typeface="Wingdings" panose="05000000000000000000" pitchFamily="2" charset="2"/>
                      </a:rPr>
                      <m:t>=1</m:t>
                    </m:r>
                  </m:oMath>
                </a14:m>
                <a:endParaRPr lang="es-AR" sz="2000" b="0" dirty="0">
                  <a:sym typeface="Wingdings" panose="05000000000000000000" pitchFamily="2" charset="2"/>
                </a:endParaRPr>
              </a:p>
            </p:txBody>
          </p:sp>
        </mc:Choice>
        <mc:Fallback xmlns="">
          <p:sp>
            <p:nvSpPr>
              <p:cNvPr id="3" name="Content Placeholder 2">
                <a:extLst>
                  <a:ext uri="{FF2B5EF4-FFF2-40B4-BE49-F238E27FC236}">
                    <a16:creationId xmlns:a16="http://schemas.microsoft.com/office/drawing/2014/main" id="{C7A644EF-824B-5A49-6712-620B0D8A82EA}"/>
                  </a:ext>
                </a:extLst>
              </p:cNvPr>
              <p:cNvSpPr>
                <a:spLocks noGrp="1" noRot="1" noChangeAspect="1" noMove="1" noResize="1" noEditPoints="1" noAdjustHandles="1" noChangeArrowheads="1" noChangeShapeType="1" noTextEdit="1"/>
              </p:cNvSpPr>
              <p:nvPr>
                <p:ph idx="1"/>
              </p:nvPr>
            </p:nvSpPr>
            <p:spPr>
              <a:xfrm>
                <a:off x="1371599" y="2299725"/>
                <a:ext cx="9724031" cy="3683358"/>
              </a:xfrm>
              <a:blipFill>
                <a:blip r:embed="rId3"/>
                <a:stretch>
                  <a:fillRect l="-690"/>
                </a:stretch>
              </a:blipFill>
            </p:spPr>
            <p:txBody>
              <a:bodyPr/>
              <a:lstStyle/>
              <a:p>
                <a:r>
                  <a:rPr lang="en-US">
                    <a:noFill/>
                  </a:rPr>
                  <a:t> </a:t>
                </a:r>
              </a:p>
            </p:txBody>
          </p:sp>
        </mc:Fallback>
      </mc:AlternateContent>
    </p:spTree>
    <p:extLst>
      <p:ext uri="{BB962C8B-B14F-4D97-AF65-F5344CB8AC3E}">
        <p14:creationId xmlns:p14="http://schemas.microsoft.com/office/powerpoint/2010/main" val="92066583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2D57903-2A87-6950-0C0E-6457B3B7270C}"/>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88EB1FD2-F998-8E88-B1AD-6BA33BCF71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4DAFFB82-4B43-6F23-0B2C-CA2CDDE5508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347B82F-BA5C-6207-205D-42404AB0E9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3D0F7DDE-7DA6-29C3-B685-3CBD7B972DF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4EF25F7-360A-70CC-B85A-52365CEAF6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79D4658-54CA-ED5D-7459-E198EB767ED4}"/>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Resolución con DP</a:t>
            </a:r>
            <a:endParaRPr lang="en-US" sz="4000" dirty="0">
              <a:solidFill>
                <a:srgbClr val="FFFFFF"/>
              </a:solidFill>
            </a:endParaRPr>
          </a:p>
        </p:txBody>
      </p:sp>
      <p:sp>
        <p:nvSpPr>
          <p:cNvPr id="3" name="Content Placeholder 2">
            <a:extLst>
              <a:ext uri="{FF2B5EF4-FFF2-40B4-BE49-F238E27FC236}">
                <a16:creationId xmlns:a16="http://schemas.microsoft.com/office/drawing/2014/main" id="{4CF1C416-9140-475D-F7B5-09652D06A345}"/>
              </a:ext>
            </a:extLst>
          </p:cNvPr>
          <p:cNvSpPr>
            <a:spLocks noGrp="1"/>
          </p:cNvSpPr>
          <p:nvPr>
            <p:ph idx="1"/>
          </p:nvPr>
        </p:nvSpPr>
        <p:spPr>
          <a:xfrm>
            <a:off x="1371599" y="2299725"/>
            <a:ext cx="9724031" cy="3683358"/>
          </a:xfrm>
        </p:spPr>
        <p:txBody>
          <a:bodyPr tIns="108000" bIns="108000" anchor="t" anchorCtr="0">
            <a:normAutofit fontScale="92500" lnSpcReduction="10000"/>
          </a:bodyPr>
          <a:lstStyle/>
          <a:p>
            <a:pPr>
              <a:lnSpc>
                <a:spcPct val="110000"/>
              </a:lnSpc>
              <a:spcBef>
                <a:spcPts val="1800"/>
              </a:spcBef>
              <a:buFontTx/>
              <a:buChar char="-"/>
            </a:pPr>
            <a:r>
              <a:rPr lang="es-AR" sz="2200" b="0" dirty="0">
                <a:sym typeface="Wingdings" panose="05000000000000000000" pitchFamily="2" charset="2"/>
              </a:rPr>
              <a:t>Obtendríamos una tabla como esta:</a:t>
            </a:r>
          </a:p>
          <a:p>
            <a:pPr marL="0" indent="0">
              <a:lnSpc>
                <a:spcPct val="110000"/>
              </a:lnSpc>
              <a:spcBef>
                <a:spcPts val="1800"/>
              </a:spcBef>
              <a:buNone/>
            </a:pPr>
            <a:endParaRPr lang="es-AR" sz="2000" dirty="0">
              <a:sym typeface="Wingdings" panose="05000000000000000000" pitchFamily="2" charset="2"/>
            </a:endParaRPr>
          </a:p>
          <a:p>
            <a:pPr marL="0" indent="0">
              <a:lnSpc>
                <a:spcPct val="110000"/>
              </a:lnSpc>
              <a:spcBef>
                <a:spcPts val="1800"/>
              </a:spcBef>
              <a:buNone/>
            </a:pPr>
            <a:endParaRPr lang="es-AR" sz="2000" b="0" dirty="0">
              <a:sym typeface="Wingdings" panose="05000000000000000000" pitchFamily="2" charset="2"/>
            </a:endParaRPr>
          </a:p>
          <a:p>
            <a:pPr marL="0" indent="0">
              <a:lnSpc>
                <a:spcPct val="110000"/>
              </a:lnSpc>
              <a:spcBef>
                <a:spcPts val="1800"/>
              </a:spcBef>
              <a:buNone/>
            </a:pPr>
            <a:endParaRPr lang="es-AR" sz="2000" dirty="0">
              <a:sym typeface="Wingdings" panose="05000000000000000000" pitchFamily="2" charset="2"/>
            </a:endParaRPr>
          </a:p>
          <a:p>
            <a:pPr marL="0" indent="0">
              <a:lnSpc>
                <a:spcPct val="110000"/>
              </a:lnSpc>
              <a:spcBef>
                <a:spcPts val="1800"/>
              </a:spcBef>
              <a:buNone/>
            </a:pPr>
            <a:endParaRPr lang="es-AR" sz="2000" b="0" dirty="0">
              <a:sym typeface="Wingdings" panose="05000000000000000000" pitchFamily="2" charset="2"/>
            </a:endParaRPr>
          </a:p>
          <a:p>
            <a:pPr>
              <a:lnSpc>
                <a:spcPct val="110000"/>
              </a:lnSpc>
              <a:spcBef>
                <a:spcPts val="1800"/>
              </a:spcBef>
              <a:buFontTx/>
              <a:buChar char="-"/>
            </a:pPr>
            <a:endParaRPr lang="es-AR" sz="2000" dirty="0">
              <a:sym typeface="Wingdings" panose="05000000000000000000" pitchFamily="2" charset="2"/>
            </a:endParaRPr>
          </a:p>
          <a:p>
            <a:pPr>
              <a:lnSpc>
                <a:spcPct val="110000"/>
              </a:lnSpc>
              <a:spcBef>
                <a:spcPts val="1800"/>
              </a:spcBef>
              <a:buFontTx/>
              <a:buChar char="-"/>
            </a:pPr>
            <a:r>
              <a:rPr lang="es-AR" sz="2200" dirty="0">
                <a:sym typeface="Wingdings" panose="05000000000000000000" pitchFamily="2" charset="2"/>
              </a:rPr>
              <a:t>Finalmente, la respuesta es 216 números facheros de 8 dígitos.</a:t>
            </a:r>
          </a:p>
          <a:p>
            <a:pPr>
              <a:lnSpc>
                <a:spcPct val="110000"/>
              </a:lnSpc>
              <a:spcBef>
                <a:spcPts val="1800"/>
              </a:spcBef>
              <a:buFontTx/>
              <a:buChar char="-"/>
            </a:pPr>
            <a:endParaRPr lang="es-AR" sz="2000" dirty="0">
              <a:sym typeface="Wingdings" panose="05000000000000000000" pitchFamily="2" charset="2"/>
            </a:endParaRPr>
          </a:p>
        </p:txBody>
      </p:sp>
      <p:pic>
        <p:nvPicPr>
          <p:cNvPr id="5" name="Picture 4">
            <a:extLst>
              <a:ext uri="{FF2B5EF4-FFF2-40B4-BE49-F238E27FC236}">
                <a16:creationId xmlns:a16="http://schemas.microsoft.com/office/drawing/2014/main" id="{77CD9A7C-6188-FFF0-0FD9-BA26D8C68999}"/>
              </a:ext>
            </a:extLst>
          </p:cNvPr>
          <p:cNvPicPr>
            <a:picLocks noChangeAspect="1"/>
          </p:cNvPicPr>
          <p:nvPr/>
        </p:nvPicPr>
        <p:blipFill>
          <a:blip r:embed="rId3">
            <a:extLst>
              <a:ext uri="{28A0092B-C50C-407E-A947-70E740481C1C}">
                <a14:useLocalDpi xmlns:a14="http://schemas.microsoft.com/office/drawing/2010/main" val="0"/>
              </a:ext>
            </a:extLst>
          </a:blip>
          <a:srcRect/>
          <a:stretch/>
        </p:blipFill>
        <p:spPr>
          <a:xfrm>
            <a:off x="3748085" y="2988846"/>
            <a:ext cx="5346675" cy="2021304"/>
          </a:xfrm>
          <a:prstGeom prst="rect">
            <a:avLst/>
          </a:prstGeom>
        </p:spPr>
      </p:pic>
    </p:spTree>
    <p:extLst>
      <p:ext uri="{BB962C8B-B14F-4D97-AF65-F5344CB8AC3E}">
        <p14:creationId xmlns:p14="http://schemas.microsoft.com/office/powerpoint/2010/main" val="379620167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5EE72CD-675B-F997-B23B-B5975DEBF33A}"/>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B514D3DE-9E74-8D1B-B995-F7A325720E4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ADC9DD00-E0DA-8F42-4263-FB55283E2D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7A361E4-457F-D9D4-0B93-328B531AE8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C2B15F-9687-05C9-F7D7-74A06C072C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E871940-9779-4D45-C66E-25E2019659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391BBDE-2EFC-D481-E5AE-C20271F77CD9}"/>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¿Qué es la programación dinámica?</a:t>
            </a:r>
            <a:endParaRPr lang="en-US" sz="4000" dirty="0">
              <a:solidFill>
                <a:srgbClr val="FFFFFF"/>
              </a:solidFill>
            </a:endParaRPr>
          </a:p>
        </p:txBody>
      </p:sp>
      <p:sp>
        <p:nvSpPr>
          <p:cNvPr id="3" name="Content Placeholder 2">
            <a:extLst>
              <a:ext uri="{FF2B5EF4-FFF2-40B4-BE49-F238E27FC236}">
                <a16:creationId xmlns:a16="http://schemas.microsoft.com/office/drawing/2014/main" id="{27796522-4314-5C7D-4254-54949F87C7FE}"/>
              </a:ext>
            </a:extLst>
          </p:cNvPr>
          <p:cNvSpPr>
            <a:spLocks noGrp="1"/>
          </p:cNvSpPr>
          <p:nvPr>
            <p:ph idx="1"/>
          </p:nvPr>
        </p:nvSpPr>
        <p:spPr>
          <a:xfrm>
            <a:off x="1371599" y="2318197"/>
            <a:ext cx="9724031" cy="3683358"/>
          </a:xfrm>
        </p:spPr>
        <p:txBody>
          <a:bodyPr tIns="108000" bIns="108000" anchor="t" anchorCtr="0">
            <a:normAutofit/>
          </a:bodyPr>
          <a:lstStyle/>
          <a:p>
            <a:pPr marL="0" indent="0">
              <a:buNone/>
            </a:pPr>
            <a:r>
              <a:rPr lang="es-AR" b="1" dirty="0">
                <a:solidFill>
                  <a:schemeClr val="accent1">
                    <a:lumMod val="50000"/>
                  </a:schemeClr>
                </a:solidFill>
              </a:rPr>
              <a:t>Definición personal</a:t>
            </a:r>
            <a:endParaRPr lang="es-ES" sz="2000" dirty="0">
              <a:solidFill>
                <a:schemeClr val="accent1">
                  <a:lumMod val="50000"/>
                </a:schemeClr>
              </a:solidFill>
            </a:endParaRPr>
          </a:p>
          <a:p>
            <a:pPr lvl="1">
              <a:lnSpc>
                <a:spcPct val="150000"/>
              </a:lnSpc>
            </a:pPr>
            <a:r>
              <a:rPr lang="es-ES" sz="2000" dirty="0"/>
              <a:t>La programación dinámica es una </a:t>
            </a:r>
            <a:r>
              <a:rPr lang="es-ES" sz="2000" b="1" dirty="0">
                <a:solidFill>
                  <a:schemeClr val="accent1">
                    <a:lumMod val="75000"/>
                  </a:schemeClr>
                </a:solidFill>
              </a:rPr>
              <a:t>técnica </a:t>
            </a:r>
            <a:r>
              <a:rPr lang="es-ES" sz="2000" dirty="0"/>
              <a:t>de resolución de problemas que consiste en definir </a:t>
            </a:r>
            <a:r>
              <a:rPr lang="es-ES" sz="2000" b="1" dirty="0">
                <a:solidFill>
                  <a:schemeClr val="accent1">
                    <a:lumMod val="75000"/>
                  </a:schemeClr>
                </a:solidFill>
              </a:rPr>
              <a:t>estados</a:t>
            </a:r>
            <a:r>
              <a:rPr lang="es-ES" sz="2000" dirty="0"/>
              <a:t>,</a:t>
            </a:r>
            <a:r>
              <a:rPr lang="es-ES" sz="2000" b="1" dirty="0">
                <a:solidFill>
                  <a:schemeClr val="tx2">
                    <a:lumMod val="75000"/>
                    <a:lumOff val="25000"/>
                  </a:schemeClr>
                </a:solidFill>
              </a:rPr>
              <a:t> </a:t>
            </a:r>
            <a:r>
              <a:rPr lang="es-ES" sz="2000" dirty="0"/>
              <a:t>y obtener información de ellos a través de sus </a:t>
            </a:r>
            <a:r>
              <a:rPr lang="es-ES" sz="2000" b="1" dirty="0">
                <a:solidFill>
                  <a:schemeClr val="accent1">
                    <a:lumMod val="75000"/>
                  </a:schemeClr>
                </a:solidFill>
              </a:rPr>
              <a:t>relaciones</a:t>
            </a:r>
            <a:r>
              <a:rPr lang="es-ES" sz="2000" dirty="0"/>
              <a:t> con otros estados más simples.</a:t>
            </a:r>
            <a:endParaRPr lang="es-ES" sz="2000" b="1" dirty="0">
              <a:solidFill>
                <a:schemeClr val="tx2">
                  <a:lumMod val="75000"/>
                  <a:lumOff val="25000"/>
                </a:schemeClr>
              </a:solidFill>
            </a:endParaRPr>
          </a:p>
        </p:txBody>
      </p:sp>
    </p:spTree>
    <p:extLst>
      <p:ext uri="{BB962C8B-B14F-4D97-AF65-F5344CB8AC3E}">
        <p14:creationId xmlns:p14="http://schemas.microsoft.com/office/powerpoint/2010/main" val="22643691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AE67916-90DF-9FAB-20B0-CEB7DDEB732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D3053E2A-DA20-0364-E38C-3C3B5CD70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619690C2-6FB5-0A4D-DC66-25FBAF361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540C6054-D118-282F-B215-2C99ABCFC3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0FC69D62-60B2-5EA3-6486-68DF026C43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06A6934-CF25-058F-6E3F-8B3F20AAD7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C23D568-71E2-698E-7189-42E77E494F81}"/>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¿Cuándo aplicamos Programación Dinámica?</a:t>
            </a:r>
            <a:endParaRPr lang="en-US" sz="4000" dirty="0">
              <a:solidFill>
                <a:srgbClr val="FFFFFF"/>
              </a:solidFill>
            </a:endParaRPr>
          </a:p>
        </p:txBody>
      </p:sp>
      <p:sp>
        <p:nvSpPr>
          <p:cNvPr id="3" name="Content Placeholder 2">
            <a:extLst>
              <a:ext uri="{FF2B5EF4-FFF2-40B4-BE49-F238E27FC236}">
                <a16:creationId xmlns:a16="http://schemas.microsoft.com/office/drawing/2014/main" id="{E8AAFF52-924A-0C9C-7818-98A74A37010B}"/>
              </a:ext>
            </a:extLst>
          </p:cNvPr>
          <p:cNvSpPr>
            <a:spLocks noGrp="1"/>
          </p:cNvSpPr>
          <p:nvPr>
            <p:ph idx="1"/>
          </p:nvPr>
        </p:nvSpPr>
        <p:spPr>
          <a:xfrm>
            <a:off x="1371599" y="2318197"/>
            <a:ext cx="9724031" cy="3683358"/>
          </a:xfrm>
        </p:spPr>
        <p:txBody>
          <a:bodyPr tIns="108000" bIns="108000" anchor="t" anchorCtr="0">
            <a:noAutofit/>
          </a:bodyPr>
          <a:lstStyle/>
          <a:p>
            <a:pPr marL="0" indent="0">
              <a:lnSpc>
                <a:spcPct val="100000"/>
              </a:lnSpc>
              <a:spcBef>
                <a:spcPts val="1800"/>
              </a:spcBef>
              <a:buNone/>
            </a:pPr>
            <a:r>
              <a:rPr lang="es-AR" sz="2000" dirty="0"/>
              <a:t>La programación dinámica es conveniente aplicarla cuando:</a:t>
            </a:r>
          </a:p>
          <a:p>
            <a:pPr>
              <a:lnSpc>
                <a:spcPct val="100000"/>
              </a:lnSpc>
              <a:spcBef>
                <a:spcPts val="1800"/>
              </a:spcBef>
              <a:buFontTx/>
              <a:buChar char="-"/>
            </a:pPr>
            <a:r>
              <a:rPr lang="es-AR" sz="2000" dirty="0"/>
              <a:t>Podemos definir un </a:t>
            </a:r>
            <a:r>
              <a:rPr lang="es-AR" sz="2000" b="1" dirty="0">
                <a:solidFill>
                  <a:schemeClr val="accent1">
                    <a:lumMod val="75000"/>
                  </a:schemeClr>
                </a:solidFill>
              </a:rPr>
              <a:t>estado</a:t>
            </a:r>
            <a:r>
              <a:rPr lang="es-AR" sz="2000" dirty="0"/>
              <a:t> a partir de las características del problema.</a:t>
            </a:r>
          </a:p>
          <a:p>
            <a:pPr>
              <a:lnSpc>
                <a:spcPct val="100000"/>
              </a:lnSpc>
              <a:spcBef>
                <a:spcPts val="1800"/>
              </a:spcBef>
              <a:buFontTx/>
              <a:buChar char="-"/>
            </a:pPr>
            <a:r>
              <a:rPr lang="es-AR" sz="2000" dirty="0"/>
              <a:t>Podemos conocer fácilmente la dependencia de los estados entre sí (conocer las </a:t>
            </a:r>
            <a:r>
              <a:rPr lang="es-AR" sz="2000" b="1" dirty="0">
                <a:solidFill>
                  <a:schemeClr val="accent1">
                    <a:lumMod val="75000"/>
                  </a:schemeClr>
                </a:solidFill>
              </a:rPr>
              <a:t>relaciones</a:t>
            </a:r>
            <a:r>
              <a:rPr lang="es-AR" sz="2000" dirty="0"/>
              <a:t>).</a:t>
            </a:r>
          </a:p>
          <a:p>
            <a:pPr>
              <a:lnSpc>
                <a:spcPct val="100000"/>
              </a:lnSpc>
              <a:spcBef>
                <a:spcPts val="1800"/>
              </a:spcBef>
              <a:buFontTx/>
              <a:buChar char="-"/>
            </a:pPr>
            <a:r>
              <a:rPr lang="es-AR" sz="2000" dirty="0"/>
              <a:t>Debido a que cada estado y cada relación debe ser procesada </a:t>
            </a:r>
            <a:r>
              <a:rPr lang="es-AR" sz="2000" b="1" dirty="0">
                <a:solidFill>
                  <a:schemeClr val="accent1">
                    <a:lumMod val="75000"/>
                  </a:schemeClr>
                </a:solidFill>
              </a:rPr>
              <a:t>exactamente una vez</a:t>
            </a:r>
            <a:r>
              <a:rPr lang="es-AR" sz="2000" dirty="0"/>
              <a:t>, la cantidad de estados sumado a la cantidad de relaciones deben ser un número que se adecue a nuestras limitaciones de </a:t>
            </a:r>
            <a:r>
              <a:rPr lang="es-AR" sz="2000" b="1" dirty="0">
                <a:solidFill>
                  <a:schemeClr val="accent1">
                    <a:lumMod val="75000"/>
                  </a:schemeClr>
                </a:solidFill>
              </a:rPr>
              <a:t>tiempo y memoria.</a:t>
            </a:r>
          </a:p>
          <a:p>
            <a:pPr>
              <a:lnSpc>
                <a:spcPct val="100000"/>
              </a:lnSpc>
              <a:spcBef>
                <a:spcPts val="1800"/>
              </a:spcBef>
              <a:buFontTx/>
              <a:buChar char="-"/>
            </a:pPr>
            <a:r>
              <a:rPr lang="es-AR" sz="2000" dirty="0"/>
              <a:t>Las relaciones tienden a llegar a los casos bases, es decir, no se generan “bucles” entre las relaciones. En palabras más técnicas, los estados y las relaciones forman un </a:t>
            </a:r>
            <a:r>
              <a:rPr lang="es-AR" sz="2000" b="1" dirty="0">
                <a:solidFill>
                  <a:schemeClr val="accent1">
                    <a:lumMod val="75000"/>
                  </a:schemeClr>
                </a:solidFill>
              </a:rPr>
              <a:t>Grafo Dirigido Acíclico (DAG)</a:t>
            </a:r>
            <a:r>
              <a:rPr lang="es-AR" sz="2000" dirty="0"/>
              <a:t>.</a:t>
            </a:r>
          </a:p>
          <a:p>
            <a:pPr>
              <a:lnSpc>
                <a:spcPct val="100000"/>
              </a:lnSpc>
              <a:buFontTx/>
              <a:buChar char="-"/>
            </a:pPr>
            <a:endParaRPr lang="es-ES" sz="2000" dirty="0"/>
          </a:p>
        </p:txBody>
      </p:sp>
    </p:spTree>
    <p:extLst>
      <p:ext uri="{BB962C8B-B14F-4D97-AF65-F5344CB8AC3E}">
        <p14:creationId xmlns:p14="http://schemas.microsoft.com/office/powerpoint/2010/main" val="968577691"/>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DB5B377-53E4-6DD4-B279-17CDBB048BA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702C4AC-CD18-3D3F-B606-7D2C0E9AE4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7E8ABA2-0D83-863A-262C-70FD84083B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71AD7FB-0BFE-8442-2CB3-AF24436E56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286C6D3-D1F8-43AC-652A-7D845E0A49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470A4336-B42B-C1E5-2425-EA4488470D8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487C4A-170D-6B6D-3275-E6C4AB6F66FC}"/>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Técnicas de implementación</a:t>
            </a:r>
            <a:endParaRPr lang="en-US" sz="4000" dirty="0">
              <a:solidFill>
                <a:srgbClr val="FFFFFF"/>
              </a:solidFill>
            </a:endParaRPr>
          </a:p>
        </p:txBody>
      </p:sp>
      <p:sp>
        <p:nvSpPr>
          <p:cNvPr id="3" name="Content Placeholder 2">
            <a:extLst>
              <a:ext uri="{FF2B5EF4-FFF2-40B4-BE49-F238E27FC236}">
                <a16:creationId xmlns:a16="http://schemas.microsoft.com/office/drawing/2014/main" id="{9A0E5ACA-705F-F2F5-614D-06AE8230C57D}"/>
              </a:ext>
            </a:extLst>
          </p:cNvPr>
          <p:cNvSpPr>
            <a:spLocks noGrp="1"/>
          </p:cNvSpPr>
          <p:nvPr>
            <p:ph idx="1"/>
          </p:nvPr>
        </p:nvSpPr>
        <p:spPr>
          <a:xfrm>
            <a:off x="1371599" y="2318197"/>
            <a:ext cx="9724031" cy="3683358"/>
          </a:xfrm>
        </p:spPr>
        <p:txBody>
          <a:bodyPr tIns="108000" bIns="108000" anchor="t" anchorCtr="0">
            <a:noAutofit/>
          </a:bodyPr>
          <a:lstStyle/>
          <a:p>
            <a:pPr marL="0" indent="0">
              <a:lnSpc>
                <a:spcPct val="100000"/>
              </a:lnSpc>
              <a:buNone/>
            </a:pPr>
            <a:r>
              <a:rPr lang="es-ES" sz="2000" dirty="0"/>
              <a:t>Existen principalmente dos técnicas para implementar las transiciones entre estados.</a:t>
            </a:r>
          </a:p>
          <a:p>
            <a:pPr marL="685800" lvl="2">
              <a:lnSpc>
                <a:spcPct val="100000"/>
              </a:lnSpc>
              <a:spcBef>
                <a:spcPts val="1000"/>
              </a:spcBef>
              <a:buFontTx/>
              <a:buChar char="-"/>
            </a:pPr>
            <a:r>
              <a:rPr lang="es-ES" b="1" dirty="0">
                <a:solidFill>
                  <a:schemeClr val="accent1">
                    <a:lumMod val="75000"/>
                  </a:schemeClr>
                </a:solidFill>
              </a:rPr>
              <a:t>Bottom-Up:</a:t>
            </a:r>
            <a:r>
              <a:rPr lang="es-ES" dirty="0"/>
              <a:t> Consiste en partir de los casos bases, e ir “propagando” la respuesta hasta llegar al problema principal que era de interés. Sus implementaciones suelen ser </a:t>
            </a:r>
            <a:r>
              <a:rPr lang="es-ES" b="1" dirty="0">
                <a:solidFill>
                  <a:schemeClr val="accent1">
                    <a:lumMod val="75000"/>
                  </a:schemeClr>
                </a:solidFill>
              </a:rPr>
              <a:t>iterativas</a:t>
            </a:r>
            <a:r>
              <a:rPr lang="es-ES" dirty="0"/>
              <a:t>.</a:t>
            </a:r>
          </a:p>
          <a:p>
            <a:pPr marL="685800" lvl="2">
              <a:lnSpc>
                <a:spcPct val="100000"/>
              </a:lnSpc>
              <a:spcBef>
                <a:spcPts val="1000"/>
              </a:spcBef>
              <a:buFontTx/>
              <a:buChar char="-"/>
            </a:pPr>
            <a:r>
              <a:rPr lang="es-ES" b="1" dirty="0">
                <a:solidFill>
                  <a:schemeClr val="accent1">
                    <a:lumMod val="75000"/>
                  </a:schemeClr>
                </a:solidFill>
              </a:rPr>
              <a:t>Top-Down</a:t>
            </a:r>
            <a:r>
              <a:rPr lang="es-ES" dirty="0"/>
              <a:t>: Consiste en partir desde el problema principal, e ir dividiéndolo en problemas más pequeños hasta llegar a los casos bases. Sus implementaciones suelen ser </a:t>
            </a:r>
            <a:r>
              <a:rPr lang="es-ES" b="1" dirty="0">
                <a:solidFill>
                  <a:schemeClr val="accent1">
                    <a:lumMod val="75000"/>
                  </a:schemeClr>
                </a:solidFill>
              </a:rPr>
              <a:t>recursivas</a:t>
            </a:r>
            <a:r>
              <a:rPr lang="es-ES" dirty="0"/>
              <a:t>. Para evitar visitar múltiples veces los mismos estados, suelen implementarse con </a:t>
            </a:r>
            <a:r>
              <a:rPr lang="es-ES" b="1" dirty="0" err="1">
                <a:solidFill>
                  <a:schemeClr val="accent1">
                    <a:lumMod val="75000"/>
                  </a:schemeClr>
                </a:solidFill>
              </a:rPr>
              <a:t>Memoization</a:t>
            </a:r>
            <a:r>
              <a:rPr lang="es-ES" dirty="0"/>
              <a:t>.</a:t>
            </a:r>
          </a:p>
          <a:p>
            <a:pPr marL="0" lvl="1" indent="0">
              <a:lnSpc>
                <a:spcPct val="100000"/>
              </a:lnSpc>
              <a:spcBef>
                <a:spcPts val="1000"/>
              </a:spcBef>
              <a:buNone/>
            </a:pPr>
            <a:r>
              <a:rPr lang="es-ES" sz="2000" dirty="0"/>
              <a:t>No hay un método que siempre sea mejor que el otro, su elección suele depender muchas veces del problema a resolver y cuál facilita su implementación.</a:t>
            </a:r>
          </a:p>
        </p:txBody>
      </p:sp>
    </p:spTree>
    <p:extLst>
      <p:ext uri="{BB962C8B-B14F-4D97-AF65-F5344CB8AC3E}">
        <p14:creationId xmlns:p14="http://schemas.microsoft.com/office/powerpoint/2010/main" val="342442285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91F1717-096B-3905-3B4D-7D873872348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548E83F9-A4A3-3137-9563-958F9F45A0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8849E3-A391-EC1E-DCDF-58D7970AE4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608CF6E-894F-2885-E0A6-CBA4C9C1D88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C73092B7-6DD2-2252-FA41-88579C17A99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81A67E19-F063-4AFB-92F1-420AAAA4ABA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27F8E7-D9F5-6EA9-B72A-A76DC3186DA8}"/>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Bottom-Up</a:t>
            </a:r>
            <a:endParaRPr lang="en-US" sz="400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B0EFB624-1D34-91F2-9FD9-ACC26F944F49}"/>
                  </a:ext>
                </a:extLst>
              </p:cNvPr>
              <p:cNvSpPr>
                <a:spLocks noGrp="1"/>
              </p:cNvSpPr>
              <p:nvPr>
                <p:ph idx="1"/>
              </p:nvPr>
            </p:nvSpPr>
            <p:spPr>
              <a:xfrm>
                <a:off x="1371599" y="2318197"/>
                <a:ext cx="9724031" cy="3683358"/>
              </a:xfrm>
            </p:spPr>
            <p:txBody>
              <a:bodyPr tIns="108000" bIns="108000" anchor="t" anchorCtr="0">
                <a:noAutofit/>
              </a:bodyPr>
              <a:lstStyle/>
              <a:p>
                <a:pPr marL="0" indent="0">
                  <a:lnSpc>
                    <a:spcPct val="100000"/>
                  </a:lnSpc>
                  <a:buNone/>
                </a:pPr>
                <a:r>
                  <a:rPr lang="es-ES" sz="2000" dirty="0"/>
                  <a:t>Vamos a hallar el </a:t>
                </a:r>
                <a14:m>
                  <m:oMath xmlns:m="http://schemas.openxmlformats.org/officeDocument/2006/math">
                    <m:r>
                      <a:rPr lang="es-AR" sz="2000" b="0" i="1" smtClean="0">
                        <a:latin typeface="Cambria Math" panose="02040503050406030204" pitchFamily="18" charset="0"/>
                      </a:rPr>
                      <m:t>𝑛</m:t>
                    </m:r>
                  </m:oMath>
                </a14:m>
                <a:r>
                  <a:rPr lang="es-ES" sz="2000" dirty="0"/>
                  <a:t>-</a:t>
                </a:r>
                <a:r>
                  <a:rPr lang="es-ES" sz="2000" dirty="0" err="1"/>
                  <a:t>ésimo</a:t>
                </a:r>
                <a:r>
                  <a:rPr lang="es-ES" sz="2000" dirty="0"/>
                  <a:t> término de Fibonacci con Bottom-Up. Recordemos que la sucesión de Fibonacci cumple que cada elemento es igual a la suma de los dos anteriores, es decir:</a:t>
                </a:r>
              </a:p>
              <a:p>
                <a:pPr marL="0" indent="0">
                  <a:lnSpc>
                    <a:spcPct val="100000"/>
                  </a:lnSpc>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𝑖</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𝑖</m:t>
                          </m:r>
                          <m:r>
                            <a:rPr lang="es-AR" sz="2000" b="0" i="1" smtClean="0">
                              <a:latin typeface="Cambria Math" panose="02040503050406030204" pitchFamily="18" charset="0"/>
                            </a:rPr>
                            <m:t>−1</m:t>
                          </m:r>
                        </m:e>
                      </m:d>
                      <m:r>
                        <a:rPr lang="es-AR" sz="2000" b="0" i="1" smtClean="0">
                          <a:latin typeface="Cambria Math" panose="02040503050406030204" pitchFamily="18" charset="0"/>
                        </a:rPr>
                        <m:t>+</m:t>
                      </m:r>
                      <m:r>
                        <a:rPr lang="es-AR" sz="2000" b="0" i="1" smtClean="0">
                          <a:latin typeface="Cambria Math" panose="02040503050406030204" pitchFamily="18" charset="0"/>
                        </a:rPr>
                        <m:t>𝑓</m:t>
                      </m:r>
                      <m:r>
                        <a:rPr lang="es-AR" sz="2000" b="0" i="1" smtClean="0">
                          <a:latin typeface="Cambria Math" panose="02040503050406030204" pitchFamily="18" charset="0"/>
                        </a:rPr>
                        <m:t>(</m:t>
                      </m:r>
                      <m:r>
                        <a:rPr lang="es-AR" sz="2000" b="0" i="1" smtClean="0">
                          <a:latin typeface="Cambria Math" panose="02040503050406030204" pitchFamily="18" charset="0"/>
                        </a:rPr>
                        <m:t>𝑖</m:t>
                      </m:r>
                      <m:r>
                        <a:rPr lang="es-AR" sz="2000" b="0" i="1" smtClean="0">
                          <a:latin typeface="Cambria Math" panose="02040503050406030204" pitchFamily="18" charset="0"/>
                        </a:rPr>
                        <m:t>−2)</m:t>
                      </m:r>
                    </m:oMath>
                  </m:oMathPara>
                </a14:m>
                <a:endParaRPr lang="es-ES" sz="2000" dirty="0"/>
              </a:p>
              <a:p>
                <a:pPr>
                  <a:lnSpc>
                    <a:spcPct val="100000"/>
                  </a:lnSpc>
                  <a:buFontTx/>
                  <a:buChar char="-"/>
                </a:pPr>
                <a:r>
                  <a:rPr lang="es-ES" sz="2000" dirty="0"/>
                  <a:t>Para el caso Bottom-Up, arrancamos definiendo los casos bases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0</m:t>
                        </m:r>
                      </m:e>
                    </m:d>
                    <m:r>
                      <a:rPr lang="es-AR" sz="2000" b="0" i="1" smtClean="0">
                        <a:latin typeface="Cambria Math" panose="02040503050406030204" pitchFamily="18" charset="0"/>
                      </a:rPr>
                      <m:t>=0</m:t>
                    </m:r>
                  </m:oMath>
                </a14:m>
                <a:r>
                  <a:rPr lang="es-ES" sz="2000" dirty="0"/>
                  <a:t> y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1</m:t>
                        </m:r>
                      </m:e>
                    </m:d>
                    <m:r>
                      <a:rPr lang="es-AR" sz="2000" b="0" i="1" smtClean="0">
                        <a:latin typeface="Cambria Math" panose="02040503050406030204" pitchFamily="18" charset="0"/>
                      </a:rPr>
                      <m:t>=1</m:t>
                    </m:r>
                  </m:oMath>
                </a14:m>
                <a:r>
                  <a:rPr lang="es-ES" sz="2000" dirty="0"/>
                  <a:t>.</a:t>
                </a:r>
              </a:p>
              <a:p>
                <a:pPr>
                  <a:lnSpc>
                    <a:spcPct val="100000"/>
                  </a:lnSpc>
                  <a:buFontTx/>
                  <a:buChar char="-"/>
                </a:pPr>
                <a:r>
                  <a:rPr lang="es-ES" sz="2000" dirty="0"/>
                  <a:t>Iteramos </a:t>
                </a:r>
                <a14:m>
                  <m:oMath xmlns:m="http://schemas.openxmlformats.org/officeDocument/2006/math">
                    <m:r>
                      <a:rPr lang="es-AR" sz="2000" b="0" i="1" smtClean="0">
                        <a:latin typeface="Cambria Math" panose="02040503050406030204" pitchFamily="18" charset="0"/>
                      </a:rPr>
                      <m:t>𝑖</m:t>
                    </m:r>
                  </m:oMath>
                </a14:m>
                <a:r>
                  <a:rPr lang="es-ES" sz="2000" dirty="0"/>
                  <a:t> desde </a:t>
                </a:r>
                <a14:m>
                  <m:oMath xmlns:m="http://schemas.openxmlformats.org/officeDocument/2006/math">
                    <m:r>
                      <a:rPr lang="es-AR" sz="2000" b="0" i="1" smtClean="0">
                        <a:latin typeface="Cambria Math" panose="02040503050406030204" pitchFamily="18" charset="0"/>
                      </a:rPr>
                      <m:t>2</m:t>
                    </m:r>
                  </m:oMath>
                </a14:m>
                <a:r>
                  <a:rPr lang="es-ES" sz="2000" dirty="0"/>
                  <a:t> a </a:t>
                </a:r>
                <a14:m>
                  <m:oMath xmlns:m="http://schemas.openxmlformats.org/officeDocument/2006/math">
                    <m:r>
                      <a:rPr lang="es-AR" sz="2000" b="0" i="1" smtClean="0">
                        <a:latin typeface="Cambria Math" panose="02040503050406030204" pitchFamily="18" charset="0"/>
                      </a:rPr>
                      <m:t>𝑛</m:t>
                    </m:r>
                  </m:oMath>
                </a14:m>
                <a:r>
                  <a:rPr lang="es-ES" sz="2000" dirty="0"/>
                  <a:t>, y en cada paso hallamos </a:t>
                </a:r>
                <a14:m>
                  <m:oMath xmlns:m="http://schemas.openxmlformats.org/officeDocument/2006/math">
                    <m:r>
                      <a:rPr lang="es-AR" sz="2000" b="0" i="1" smtClean="0">
                        <a:latin typeface="Cambria Math" panose="02040503050406030204" pitchFamily="18" charset="0"/>
                      </a:rPr>
                      <m:t>𝑓</m:t>
                    </m:r>
                    <m:r>
                      <a:rPr lang="es-AR" sz="2000" b="0" i="1" smtClean="0">
                        <a:latin typeface="Cambria Math" panose="02040503050406030204" pitchFamily="18" charset="0"/>
                      </a:rPr>
                      <m:t>(</m:t>
                    </m:r>
                    <m:r>
                      <a:rPr lang="es-AR" sz="2000" b="0" i="1" smtClean="0">
                        <a:latin typeface="Cambria Math" panose="02040503050406030204" pitchFamily="18" charset="0"/>
                      </a:rPr>
                      <m:t>𝑖</m:t>
                    </m:r>
                    <m:r>
                      <a:rPr lang="es-AR" sz="2000" b="0" i="1" smtClean="0">
                        <a:latin typeface="Cambria Math" panose="02040503050406030204" pitchFamily="18" charset="0"/>
                      </a:rPr>
                      <m:t>)</m:t>
                    </m:r>
                  </m:oMath>
                </a14:m>
                <a:r>
                  <a:rPr lang="es-ES" sz="2000" dirty="0"/>
                  <a:t>.</a:t>
                </a:r>
              </a:p>
              <a:p>
                <a:pPr>
                  <a:lnSpc>
                    <a:spcPct val="100000"/>
                  </a:lnSpc>
                  <a:buFontTx/>
                  <a:buChar char="-"/>
                </a:pPr>
                <a:r>
                  <a:rPr lang="es-ES" sz="2000" dirty="0"/>
                  <a:t>De esta manera, vamos resolviendo de los casos más chicos, hasta llegar al problema original.</a:t>
                </a:r>
              </a:p>
            </p:txBody>
          </p:sp>
        </mc:Choice>
        <mc:Fallback xmlns="">
          <p:sp>
            <p:nvSpPr>
              <p:cNvPr id="3" name="Content Placeholder 2">
                <a:extLst>
                  <a:ext uri="{FF2B5EF4-FFF2-40B4-BE49-F238E27FC236}">
                    <a16:creationId xmlns:a16="http://schemas.microsoft.com/office/drawing/2014/main" id="{B0EFB624-1D34-91F2-9FD9-ACC26F944F49}"/>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4"/>
                <a:stretch>
                  <a:fillRect l="-690"/>
                </a:stretch>
              </a:blipFill>
            </p:spPr>
            <p:txBody>
              <a:bodyPr/>
              <a:lstStyle/>
              <a:p>
                <a:r>
                  <a:rPr lang="en-US">
                    <a:noFill/>
                  </a:rPr>
                  <a:t> </a:t>
                </a:r>
              </a:p>
            </p:txBody>
          </p:sp>
        </mc:Fallback>
      </mc:AlternateContent>
    </p:spTree>
    <p:extLst>
      <p:ext uri="{BB962C8B-B14F-4D97-AF65-F5344CB8AC3E}">
        <p14:creationId xmlns:p14="http://schemas.microsoft.com/office/powerpoint/2010/main" val="309927717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1C968DB-F9B6-C54B-0156-6D101C1C8E2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31BF90C8-F815-2803-DAD9-A7C312D6D1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FD63B50-8A5F-F8D2-FB9B-80CE24E21C9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4F46A8-B7B1-5CA0-9A74-995D925974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B0BEA4B-47CD-261A-1CD9-3C0FDBC680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BB47F09-7640-318D-F92F-58A8814379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6148852-0514-B812-5AF1-08C0D52F43AA}"/>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Bottom-Up</a:t>
            </a:r>
            <a:endParaRPr lang="en-US" sz="4000" dirty="0">
              <a:solidFill>
                <a:srgbClr val="FFFFFF"/>
              </a:solidFill>
            </a:endParaRPr>
          </a:p>
        </p:txBody>
      </p:sp>
      <p:sp>
        <p:nvSpPr>
          <p:cNvPr id="3" name="Content Placeholder 2">
            <a:extLst>
              <a:ext uri="{FF2B5EF4-FFF2-40B4-BE49-F238E27FC236}">
                <a16:creationId xmlns:a16="http://schemas.microsoft.com/office/drawing/2014/main" id="{45588531-C369-64F2-B693-0BDC2101B6D1}"/>
              </a:ext>
            </a:extLst>
          </p:cNvPr>
          <p:cNvSpPr>
            <a:spLocks noGrp="1"/>
          </p:cNvSpPr>
          <p:nvPr>
            <p:ph idx="1"/>
          </p:nvPr>
        </p:nvSpPr>
        <p:spPr>
          <a:xfrm>
            <a:off x="1371599" y="2318197"/>
            <a:ext cx="4724401" cy="3683358"/>
          </a:xfrm>
        </p:spPr>
        <p:txBody>
          <a:bodyPr tIns="108000" bIns="108000" anchor="t" anchorCtr="0">
            <a:noAutofit/>
          </a:bodyPr>
          <a:lstStyle/>
          <a:p>
            <a:pPr marL="0" indent="0">
              <a:lnSpc>
                <a:spcPct val="100000"/>
              </a:lnSpc>
              <a:buNone/>
            </a:pPr>
            <a:r>
              <a:rPr lang="es-ES" b="1" dirty="0">
                <a:solidFill>
                  <a:schemeClr val="accent1">
                    <a:lumMod val="75000"/>
                  </a:schemeClr>
                </a:solidFill>
              </a:rPr>
              <a:t>Implementación en Python</a:t>
            </a:r>
          </a:p>
        </p:txBody>
      </p:sp>
      <p:pic>
        <p:nvPicPr>
          <p:cNvPr id="5" name="Picture 4">
            <a:extLst>
              <a:ext uri="{FF2B5EF4-FFF2-40B4-BE49-F238E27FC236}">
                <a16:creationId xmlns:a16="http://schemas.microsoft.com/office/drawing/2014/main" id="{40957257-EF37-46E2-7484-1F97EE865595}"/>
              </a:ext>
            </a:extLst>
          </p:cNvPr>
          <p:cNvPicPr>
            <a:picLocks noChangeAspect="1"/>
          </p:cNvPicPr>
          <p:nvPr/>
        </p:nvPicPr>
        <p:blipFill>
          <a:blip r:embed="rId4"/>
          <a:stretch>
            <a:fillRect/>
          </a:stretch>
        </p:blipFill>
        <p:spPr>
          <a:xfrm>
            <a:off x="6618493" y="2385760"/>
            <a:ext cx="5051013" cy="3548232"/>
          </a:xfrm>
          <a:prstGeom prst="rect">
            <a:avLst/>
          </a:prstGeom>
        </p:spPr>
      </p:pic>
    </p:spTree>
    <p:extLst>
      <p:ext uri="{BB962C8B-B14F-4D97-AF65-F5344CB8AC3E}">
        <p14:creationId xmlns:p14="http://schemas.microsoft.com/office/powerpoint/2010/main" val="1464541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2E3D3AB-4219-B6C7-6C6A-AD96CA609E4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9644F676-F339-066C-49BA-C1185320BF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118E6D7-484C-3FC7-EEE1-45CF37F470D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5C45A7C-6DAA-8C24-8FAB-1F96C1BE62E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CA58883-8211-AB71-50F7-B08634E64B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5353D5DA-7720-86CE-7615-EB4D9BA06A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1F5D205-E331-8CC1-2A71-DEE40EC6E7C7}"/>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Top-Down</a:t>
            </a:r>
            <a:endParaRPr lang="en-US" sz="4000" dirty="0">
              <a:solidFill>
                <a:srgbClr val="FFFFFF"/>
              </a:solidFill>
            </a:endParaRP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6C7B773-9B04-38DE-682D-C7C592F4B150}"/>
                  </a:ext>
                </a:extLst>
              </p:cNvPr>
              <p:cNvSpPr>
                <a:spLocks noGrp="1"/>
              </p:cNvSpPr>
              <p:nvPr>
                <p:ph idx="1"/>
              </p:nvPr>
            </p:nvSpPr>
            <p:spPr>
              <a:xfrm>
                <a:off x="1371599" y="2318197"/>
                <a:ext cx="9724031" cy="3683358"/>
              </a:xfrm>
            </p:spPr>
            <p:txBody>
              <a:bodyPr tIns="108000" bIns="108000" anchor="t" anchorCtr="0">
                <a:noAutofit/>
              </a:bodyPr>
              <a:lstStyle/>
              <a:p>
                <a:pPr marL="0" indent="0">
                  <a:lnSpc>
                    <a:spcPct val="100000"/>
                  </a:lnSpc>
                  <a:buNone/>
                </a:pPr>
                <a:r>
                  <a:rPr lang="es-ES" sz="2000" dirty="0"/>
                  <a:t>Ahora, vamos a hallar el </a:t>
                </a:r>
                <a14:m>
                  <m:oMath xmlns:m="http://schemas.openxmlformats.org/officeDocument/2006/math">
                    <m:r>
                      <a:rPr lang="es-AR" sz="2000" b="0" i="1" smtClean="0">
                        <a:latin typeface="Cambria Math" panose="02040503050406030204" pitchFamily="18" charset="0"/>
                      </a:rPr>
                      <m:t>𝑛</m:t>
                    </m:r>
                  </m:oMath>
                </a14:m>
                <a:r>
                  <a:rPr lang="es-ES" sz="2000" dirty="0"/>
                  <a:t>-</a:t>
                </a:r>
                <a:r>
                  <a:rPr lang="es-ES" sz="2000" dirty="0" err="1"/>
                  <a:t>ésimo</a:t>
                </a:r>
                <a:r>
                  <a:rPr lang="es-ES" sz="2000" dirty="0"/>
                  <a:t> término de Fibonacci con Top-Down. </a:t>
                </a:r>
              </a:p>
              <a:p>
                <a:pPr>
                  <a:lnSpc>
                    <a:spcPct val="100000"/>
                  </a:lnSpc>
                  <a:buFontTx/>
                  <a:buChar char="-"/>
                </a:pPr>
                <a:r>
                  <a:rPr lang="es-ES" sz="2000" dirty="0"/>
                  <a:t>Para este caso, comenzamos desde el problema principal. Sabemos que:</a:t>
                </a:r>
              </a:p>
              <a:p>
                <a:pPr marL="0" indent="0">
                  <a:lnSpc>
                    <a:spcPct val="100000"/>
                  </a:lnSpc>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−1</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−2</m:t>
                          </m:r>
                        </m:e>
                      </m:d>
                    </m:oMath>
                  </m:oMathPara>
                </a14:m>
                <a:endParaRPr lang="es-AR" sz="2000" dirty="0"/>
              </a:p>
              <a:p>
                <a:pPr>
                  <a:lnSpc>
                    <a:spcPct val="100000"/>
                  </a:lnSpc>
                  <a:buFontTx/>
                  <a:buChar char="-"/>
                </a:pPr>
                <a:r>
                  <a:rPr lang="es-AR" sz="2000" dirty="0"/>
                  <a:t>Como aún no sabemos ninguno de los otros dos, resolvemos recursivamente </a:t>
                </a:r>
                <a14:m>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−1</m:t>
                        </m:r>
                      </m:e>
                    </m:d>
                    <m:r>
                      <a:rPr lang="es-AR" sz="2000" b="0" i="1" smtClean="0">
                        <a:latin typeface="Cambria Math" panose="02040503050406030204" pitchFamily="18" charset="0"/>
                      </a:rPr>
                      <m:t>.</m:t>
                    </m:r>
                  </m:oMath>
                </a14:m>
                <a:endParaRPr lang="es-AR" sz="2000" b="0" i="1" dirty="0">
                  <a:latin typeface="Cambria Math" panose="02040503050406030204" pitchFamily="18" charset="0"/>
                </a:endParaRPr>
              </a:p>
              <a:p>
                <a:pPr marL="0" indent="0">
                  <a:lnSpc>
                    <a:spcPct val="100000"/>
                  </a:lnSpc>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−1</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−2</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𝑛</m:t>
                          </m:r>
                          <m:r>
                            <a:rPr lang="es-AR" sz="2000" b="0" i="1" smtClean="0">
                              <a:latin typeface="Cambria Math" panose="02040503050406030204" pitchFamily="18" charset="0"/>
                            </a:rPr>
                            <m:t>−3</m:t>
                          </m:r>
                        </m:e>
                      </m:d>
                    </m:oMath>
                  </m:oMathPara>
                </a14:m>
                <a:endParaRPr lang="es-AR" sz="2000" dirty="0"/>
              </a:p>
              <a:p>
                <a:pPr>
                  <a:lnSpc>
                    <a:spcPct val="100000"/>
                  </a:lnSpc>
                  <a:buFontTx/>
                  <a:buChar char="-"/>
                </a:pPr>
                <a:r>
                  <a:rPr lang="es-AR" sz="2000" b="0" dirty="0"/>
                  <a:t>Y así recursivamente hasta llegar a los casos bases:</a:t>
                </a:r>
              </a:p>
              <a:p>
                <a:pPr marL="0" indent="0">
                  <a:lnSpc>
                    <a:spcPct val="100000"/>
                  </a:lnSpc>
                  <a:buNone/>
                </a:pPr>
                <a14:m>
                  <m:oMathPara xmlns:m="http://schemas.openxmlformats.org/officeDocument/2006/math">
                    <m:oMathParaPr>
                      <m:jc m:val="centerGroup"/>
                    </m:oMathParaPr>
                    <m:oMath xmlns:m="http://schemas.openxmlformats.org/officeDocument/2006/math">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2</m:t>
                          </m:r>
                        </m:e>
                      </m:d>
                      <m:r>
                        <a:rPr lang="es-AR" sz="2000" b="0" i="1" smtClean="0">
                          <a:latin typeface="Cambria Math" panose="02040503050406030204" pitchFamily="18" charset="0"/>
                        </a:rPr>
                        <m:t>=</m:t>
                      </m:r>
                      <m:r>
                        <a:rPr lang="es-AR" sz="2000" b="0" i="1" smtClean="0">
                          <a:latin typeface="Cambria Math" panose="02040503050406030204" pitchFamily="18" charset="0"/>
                        </a:rPr>
                        <m:t>𝑓</m:t>
                      </m:r>
                      <m:d>
                        <m:dPr>
                          <m:ctrlPr>
                            <a:rPr lang="es-AR" sz="2000" b="0" i="1" smtClean="0">
                              <a:latin typeface="Cambria Math" panose="02040503050406030204" pitchFamily="18" charset="0"/>
                            </a:rPr>
                          </m:ctrlPr>
                        </m:dPr>
                        <m:e>
                          <m:r>
                            <a:rPr lang="es-AR" sz="2000" b="0" i="1" smtClean="0">
                              <a:latin typeface="Cambria Math" panose="02040503050406030204" pitchFamily="18" charset="0"/>
                            </a:rPr>
                            <m:t>1</m:t>
                          </m:r>
                        </m:e>
                      </m:d>
                      <m:r>
                        <a:rPr lang="es-AR" sz="2000" b="0" i="1" smtClean="0">
                          <a:latin typeface="Cambria Math" panose="02040503050406030204" pitchFamily="18" charset="0"/>
                        </a:rPr>
                        <m:t>+</m:t>
                      </m:r>
                      <m:r>
                        <a:rPr lang="es-AR" sz="2000" b="0" i="1" smtClean="0">
                          <a:latin typeface="Cambria Math" panose="02040503050406030204" pitchFamily="18" charset="0"/>
                        </a:rPr>
                        <m:t>𝑓</m:t>
                      </m:r>
                      <m:r>
                        <a:rPr lang="es-AR" sz="2000" b="0" i="1" smtClean="0">
                          <a:latin typeface="Cambria Math" panose="02040503050406030204" pitchFamily="18" charset="0"/>
                        </a:rPr>
                        <m:t>(0)</m:t>
                      </m:r>
                    </m:oMath>
                  </m:oMathPara>
                </a14:m>
                <a:endParaRPr lang="es-AR" sz="2000" b="0" dirty="0"/>
              </a:p>
              <a:p>
                <a:pPr>
                  <a:lnSpc>
                    <a:spcPct val="100000"/>
                  </a:lnSpc>
                  <a:buFontTx/>
                  <a:buChar char="-"/>
                </a:pPr>
                <a:endParaRPr lang="es-ES" sz="2000" dirty="0"/>
              </a:p>
            </p:txBody>
          </p:sp>
        </mc:Choice>
        <mc:Fallback xmlns="">
          <p:sp>
            <p:nvSpPr>
              <p:cNvPr id="3" name="Content Placeholder 2">
                <a:extLst>
                  <a:ext uri="{FF2B5EF4-FFF2-40B4-BE49-F238E27FC236}">
                    <a16:creationId xmlns:a16="http://schemas.microsoft.com/office/drawing/2014/main" id="{A6C7B773-9B04-38DE-682D-C7C592F4B150}"/>
                  </a:ext>
                </a:extLst>
              </p:cNvPr>
              <p:cNvSpPr>
                <a:spLocks noGrp="1" noRot="1" noChangeAspect="1" noMove="1" noResize="1" noEditPoints="1" noAdjustHandles="1" noChangeArrowheads="1" noChangeShapeType="1" noTextEdit="1"/>
              </p:cNvSpPr>
              <p:nvPr>
                <p:ph idx="1"/>
              </p:nvPr>
            </p:nvSpPr>
            <p:spPr>
              <a:xfrm>
                <a:off x="1371599" y="2318197"/>
                <a:ext cx="9724031" cy="3683358"/>
              </a:xfrm>
              <a:blipFill>
                <a:blip r:embed="rId4"/>
                <a:stretch>
                  <a:fillRect l="-690"/>
                </a:stretch>
              </a:blipFill>
            </p:spPr>
            <p:txBody>
              <a:bodyPr/>
              <a:lstStyle/>
              <a:p>
                <a:r>
                  <a:rPr lang="en-US">
                    <a:noFill/>
                  </a:rPr>
                  <a:t> </a:t>
                </a:r>
              </a:p>
            </p:txBody>
          </p:sp>
        </mc:Fallback>
      </mc:AlternateContent>
    </p:spTree>
    <p:extLst>
      <p:ext uri="{BB962C8B-B14F-4D97-AF65-F5344CB8AC3E}">
        <p14:creationId xmlns:p14="http://schemas.microsoft.com/office/powerpoint/2010/main" val="417569417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F9B0BA5-3FFD-4538-A6AD-5C8026DA070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15856B74-0AF3-E7E7-18EF-D1657A89138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E39008D7-758D-F976-3A63-35FA0DC2A5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63D38FF7-0469-046E-5580-4AB6808F722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481EFBC-A208-0D52-0F61-FA10F31961D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9FA3A82-5433-AB2C-6AB5-056359F187D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9A44AB-0997-86D7-CEB5-D864CC1855C1}"/>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Top-Down</a:t>
            </a:r>
            <a:endParaRPr lang="en-US" sz="4000" dirty="0">
              <a:solidFill>
                <a:srgbClr val="FFFFFF"/>
              </a:solidFill>
            </a:endParaRPr>
          </a:p>
        </p:txBody>
      </p:sp>
      <p:sp>
        <p:nvSpPr>
          <p:cNvPr id="3" name="Content Placeholder 2">
            <a:extLst>
              <a:ext uri="{FF2B5EF4-FFF2-40B4-BE49-F238E27FC236}">
                <a16:creationId xmlns:a16="http://schemas.microsoft.com/office/drawing/2014/main" id="{E1B41C51-4022-83B4-E71D-2C0672231E8E}"/>
              </a:ext>
            </a:extLst>
          </p:cNvPr>
          <p:cNvSpPr>
            <a:spLocks noGrp="1"/>
          </p:cNvSpPr>
          <p:nvPr>
            <p:ph idx="1"/>
          </p:nvPr>
        </p:nvSpPr>
        <p:spPr>
          <a:xfrm>
            <a:off x="1371599" y="2318197"/>
            <a:ext cx="4724401" cy="3683358"/>
          </a:xfrm>
        </p:spPr>
        <p:txBody>
          <a:bodyPr tIns="108000" bIns="108000" anchor="t" anchorCtr="0">
            <a:noAutofit/>
          </a:bodyPr>
          <a:lstStyle/>
          <a:p>
            <a:pPr marL="0" indent="0">
              <a:lnSpc>
                <a:spcPct val="100000"/>
              </a:lnSpc>
              <a:buNone/>
            </a:pPr>
            <a:r>
              <a:rPr lang="es-ES" b="1" dirty="0">
                <a:solidFill>
                  <a:schemeClr val="accent1">
                    <a:lumMod val="75000"/>
                  </a:schemeClr>
                </a:solidFill>
              </a:rPr>
              <a:t>Implementación en Python</a:t>
            </a:r>
          </a:p>
        </p:txBody>
      </p:sp>
      <p:pic>
        <p:nvPicPr>
          <p:cNvPr id="5" name="Picture 4">
            <a:extLst>
              <a:ext uri="{FF2B5EF4-FFF2-40B4-BE49-F238E27FC236}">
                <a16:creationId xmlns:a16="http://schemas.microsoft.com/office/drawing/2014/main" id="{4862338C-9FF4-5F3E-FEDD-4C1EC2CE4B9D}"/>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988354" y="2385760"/>
            <a:ext cx="4311291" cy="3548232"/>
          </a:xfrm>
          <a:prstGeom prst="rect">
            <a:avLst/>
          </a:prstGeom>
        </p:spPr>
      </p:pic>
    </p:spTree>
    <p:extLst>
      <p:ext uri="{BB962C8B-B14F-4D97-AF65-F5344CB8AC3E}">
        <p14:creationId xmlns:p14="http://schemas.microsoft.com/office/powerpoint/2010/main" val="318250891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FD64B78-7F50-0757-D9C8-F133EB0E93D9}"/>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4D46298-92A7-362F-51E0-DBA66603E5B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45C5F7C-5E2E-2656-21F8-F8706BC4E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FF16D01-B02C-2088-D978-309602E161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515BC6CA-306D-8B28-4EBC-9682B880BC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C015C46-0A31-B9F1-025C-5D10B30538A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EE2A473-9147-0468-A904-CE2C2E393B4F}"/>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Top-Down</a:t>
            </a:r>
            <a:endParaRPr lang="en-US" sz="4000" dirty="0">
              <a:solidFill>
                <a:srgbClr val="FFFFFF"/>
              </a:solidFill>
            </a:endParaRPr>
          </a:p>
        </p:txBody>
      </p:sp>
      <p:sp>
        <p:nvSpPr>
          <p:cNvPr id="3" name="Content Placeholder 2">
            <a:extLst>
              <a:ext uri="{FF2B5EF4-FFF2-40B4-BE49-F238E27FC236}">
                <a16:creationId xmlns:a16="http://schemas.microsoft.com/office/drawing/2014/main" id="{87E5C2BA-3215-E50E-798F-FFA44AF42F14}"/>
              </a:ext>
            </a:extLst>
          </p:cNvPr>
          <p:cNvSpPr>
            <a:spLocks noGrp="1"/>
          </p:cNvSpPr>
          <p:nvPr>
            <p:ph idx="1"/>
          </p:nvPr>
        </p:nvSpPr>
        <p:spPr>
          <a:xfrm>
            <a:off x="1371599" y="2318197"/>
            <a:ext cx="4724401" cy="3683358"/>
          </a:xfrm>
        </p:spPr>
        <p:txBody>
          <a:bodyPr tIns="108000" bIns="108000" anchor="t" anchorCtr="0">
            <a:noAutofit/>
          </a:bodyPr>
          <a:lstStyle/>
          <a:p>
            <a:pPr marL="0" indent="0">
              <a:lnSpc>
                <a:spcPct val="100000"/>
              </a:lnSpc>
              <a:buNone/>
            </a:pPr>
            <a:r>
              <a:rPr lang="es-ES" b="1" dirty="0">
                <a:solidFill>
                  <a:schemeClr val="accent1">
                    <a:lumMod val="75000"/>
                  </a:schemeClr>
                </a:solidFill>
              </a:rPr>
              <a:t>Implementación en Python</a:t>
            </a:r>
          </a:p>
          <a:p>
            <a:pPr marL="0" indent="0" algn="ctr">
              <a:lnSpc>
                <a:spcPct val="100000"/>
              </a:lnSpc>
              <a:buNone/>
            </a:pPr>
            <a:r>
              <a:rPr lang="es-ES" b="1" dirty="0">
                <a:solidFill>
                  <a:srgbClr val="FF0000"/>
                </a:solidFill>
              </a:rPr>
              <a:t>WARNING</a:t>
            </a:r>
          </a:p>
          <a:p>
            <a:pPr marL="0" indent="0">
              <a:lnSpc>
                <a:spcPct val="100000"/>
              </a:lnSpc>
              <a:buNone/>
            </a:pPr>
            <a:r>
              <a:rPr lang="es-ES" sz="2000" b="1" dirty="0">
                <a:solidFill>
                  <a:srgbClr val="FF0000"/>
                </a:solidFill>
              </a:rPr>
              <a:t>Esta implementación puede generar que la recursión visite más de una vez cada estado. Para el caso de Fibonacci, se hace exponencial el tiempo de ejecución. Por eso se implementa con </a:t>
            </a:r>
            <a:r>
              <a:rPr lang="es-ES" sz="2000" b="1" dirty="0" err="1">
                <a:solidFill>
                  <a:srgbClr val="002060"/>
                </a:solidFill>
              </a:rPr>
              <a:t>Memoization</a:t>
            </a:r>
            <a:r>
              <a:rPr lang="es-ES" sz="2000" b="1" dirty="0">
                <a:solidFill>
                  <a:srgbClr val="002060"/>
                </a:solidFill>
              </a:rPr>
              <a:t>.</a:t>
            </a:r>
          </a:p>
        </p:txBody>
      </p:sp>
      <p:pic>
        <p:nvPicPr>
          <p:cNvPr id="5" name="Picture 4">
            <a:extLst>
              <a:ext uri="{FF2B5EF4-FFF2-40B4-BE49-F238E27FC236}">
                <a16:creationId xmlns:a16="http://schemas.microsoft.com/office/drawing/2014/main" id="{8EF5E43D-93B5-DBE6-9AA4-3CB406859506}"/>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6988354" y="2385760"/>
            <a:ext cx="4311291" cy="3548232"/>
          </a:xfrm>
          <a:prstGeom prst="rect">
            <a:avLst/>
          </a:prstGeom>
        </p:spPr>
      </p:pic>
    </p:spTree>
    <p:extLst>
      <p:ext uri="{BB962C8B-B14F-4D97-AF65-F5344CB8AC3E}">
        <p14:creationId xmlns:p14="http://schemas.microsoft.com/office/powerpoint/2010/main" val="840812229"/>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E1036F-FD53-874D-42CA-AD6848B9A4C8}"/>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A53E6D4-6F1D-B97F-B283-8E821A2F7BE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A66D6D4-575A-6130-28F8-76CB3322F5A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CA25EAC-26D4-5D27-CB71-4E578BFB6D9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A6A26236-395B-3C73-1594-A237C31CA2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A92517A-1C29-8ABD-F28E-3B6EE1712A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C4CF719-F6A7-FABC-7968-4A9861A1A9F0}"/>
              </a:ext>
            </a:extLst>
          </p:cNvPr>
          <p:cNvSpPr>
            <a:spLocks noGrp="1"/>
          </p:cNvSpPr>
          <p:nvPr>
            <p:ph type="title"/>
          </p:nvPr>
        </p:nvSpPr>
        <p:spPr>
          <a:xfrm>
            <a:off x="1371599" y="294538"/>
            <a:ext cx="9895951" cy="1033669"/>
          </a:xfrm>
        </p:spPr>
        <p:txBody>
          <a:bodyPr>
            <a:normAutofit/>
          </a:bodyPr>
          <a:lstStyle/>
          <a:p>
            <a:r>
              <a:rPr lang="es-AR" sz="4000" dirty="0">
                <a:solidFill>
                  <a:srgbClr val="FFFFFF"/>
                </a:solidFill>
              </a:rPr>
              <a:t>Ejemplo de Top-Down</a:t>
            </a:r>
            <a:endParaRPr lang="en-US" sz="4000" dirty="0">
              <a:solidFill>
                <a:srgbClr val="FFFFFF"/>
              </a:solidFill>
            </a:endParaRPr>
          </a:p>
        </p:txBody>
      </p:sp>
      <p:sp>
        <p:nvSpPr>
          <p:cNvPr id="3" name="Content Placeholder 2">
            <a:extLst>
              <a:ext uri="{FF2B5EF4-FFF2-40B4-BE49-F238E27FC236}">
                <a16:creationId xmlns:a16="http://schemas.microsoft.com/office/drawing/2014/main" id="{B7B69F68-C1E8-7BF9-433F-4B44CF8E5BA3}"/>
              </a:ext>
            </a:extLst>
          </p:cNvPr>
          <p:cNvSpPr>
            <a:spLocks noGrp="1"/>
          </p:cNvSpPr>
          <p:nvPr>
            <p:ph idx="1"/>
          </p:nvPr>
        </p:nvSpPr>
        <p:spPr>
          <a:xfrm>
            <a:off x="1371599" y="2318197"/>
            <a:ext cx="4724401" cy="3683358"/>
          </a:xfrm>
        </p:spPr>
        <p:txBody>
          <a:bodyPr tIns="108000" bIns="108000" anchor="t" anchorCtr="0">
            <a:noAutofit/>
          </a:bodyPr>
          <a:lstStyle/>
          <a:p>
            <a:pPr marL="0" indent="0">
              <a:lnSpc>
                <a:spcPct val="100000"/>
              </a:lnSpc>
              <a:buNone/>
            </a:pPr>
            <a:r>
              <a:rPr lang="es-ES" b="1" dirty="0">
                <a:solidFill>
                  <a:schemeClr val="accent1">
                    <a:lumMod val="75000"/>
                  </a:schemeClr>
                </a:solidFill>
              </a:rPr>
              <a:t>Implementación en Python</a:t>
            </a:r>
          </a:p>
          <a:p>
            <a:pPr marL="0" indent="0" algn="ctr">
              <a:lnSpc>
                <a:spcPct val="100000"/>
              </a:lnSpc>
              <a:buNone/>
            </a:pPr>
            <a:r>
              <a:rPr lang="es-ES" b="1" dirty="0">
                <a:solidFill>
                  <a:schemeClr val="accent1">
                    <a:lumMod val="50000"/>
                  </a:schemeClr>
                </a:solidFill>
              </a:rPr>
              <a:t>Con </a:t>
            </a:r>
            <a:r>
              <a:rPr lang="es-ES" b="1" dirty="0" err="1">
                <a:solidFill>
                  <a:schemeClr val="accent1">
                    <a:lumMod val="50000"/>
                  </a:schemeClr>
                </a:solidFill>
              </a:rPr>
              <a:t>Memoization</a:t>
            </a:r>
            <a:endParaRPr lang="es-ES" b="1" dirty="0">
              <a:solidFill>
                <a:schemeClr val="accent1">
                  <a:lumMod val="50000"/>
                </a:schemeClr>
              </a:solidFill>
            </a:endParaRPr>
          </a:p>
          <a:p>
            <a:pPr marL="0" indent="0">
              <a:lnSpc>
                <a:spcPct val="100000"/>
              </a:lnSpc>
              <a:buNone/>
            </a:pPr>
            <a:r>
              <a:rPr lang="es-ES" sz="2000" dirty="0"/>
              <a:t>El concepto consiste en pagar memoria para reducir ejecuciones redundantes</a:t>
            </a:r>
          </a:p>
        </p:txBody>
      </p:sp>
      <p:pic>
        <p:nvPicPr>
          <p:cNvPr id="5" name="Picture 4">
            <a:extLst>
              <a:ext uri="{FF2B5EF4-FFF2-40B4-BE49-F238E27FC236}">
                <a16:creationId xmlns:a16="http://schemas.microsoft.com/office/drawing/2014/main" id="{F2D6848D-0214-4A3F-763D-94DB275FE01E}"/>
              </a:ext>
            </a:extLst>
          </p:cNvPr>
          <p:cNvPicPr>
            <a:picLocks noChangeAspect="1"/>
          </p:cNvPicPr>
          <p:nvPr/>
        </p:nvPicPr>
        <p:blipFill>
          <a:blip r:embed="rId4">
            <a:extLst>
              <a:ext uri="{28A0092B-C50C-407E-A947-70E740481C1C}">
                <a14:useLocalDpi xmlns:a14="http://schemas.microsoft.com/office/drawing/2010/main" val="0"/>
              </a:ext>
            </a:extLst>
          </a:blip>
          <a:srcRect/>
          <a:stretch/>
        </p:blipFill>
        <p:spPr>
          <a:xfrm>
            <a:off x="7343870" y="2385760"/>
            <a:ext cx="3600258" cy="3548232"/>
          </a:xfrm>
          <a:prstGeom prst="rect">
            <a:avLst/>
          </a:prstGeom>
        </p:spPr>
      </p:pic>
    </p:spTree>
    <p:extLst>
      <p:ext uri="{BB962C8B-B14F-4D97-AF65-F5344CB8AC3E}">
        <p14:creationId xmlns:p14="http://schemas.microsoft.com/office/powerpoint/2010/main" val="280204821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8" name="Rectangle 5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Rectangle 5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2" name="Rectangle 6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4" name="Rectangle 6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6" name="Oval 6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23A22BD1-2EF9-6E46-1196-B2D2B4A138BE}"/>
              </a:ext>
            </a:extLst>
          </p:cNvPr>
          <p:cNvSpPr>
            <a:spLocks noGrp="1"/>
          </p:cNvSpPr>
          <p:nvPr>
            <p:ph type="title"/>
          </p:nvPr>
        </p:nvSpPr>
        <p:spPr>
          <a:xfrm>
            <a:off x="1371600" y="818984"/>
            <a:ext cx="9624035" cy="3268520"/>
          </a:xfrm>
        </p:spPr>
        <p:txBody>
          <a:bodyPr vert="horz" lIns="91440" tIns="45720" rIns="91440" bIns="45720" rtlCol="0" anchor="ctr" anchorCtr="0">
            <a:normAutofit/>
          </a:bodyPr>
          <a:lstStyle/>
          <a:p>
            <a:r>
              <a:rPr lang="en-US" sz="4800" kern="1200" dirty="0" err="1">
                <a:solidFill>
                  <a:srgbClr val="FFFFFF"/>
                </a:solidFill>
                <a:latin typeface="+mj-lt"/>
                <a:ea typeface="+mj-ea"/>
                <a:cs typeface="+mj-cs"/>
              </a:rPr>
              <a:t>Algunos</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problemas</a:t>
            </a:r>
            <a:r>
              <a:rPr lang="en-US" sz="4800" kern="1200" dirty="0">
                <a:solidFill>
                  <a:srgbClr val="FFFFFF"/>
                </a:solidFill>
                <a:latin typeface="+mj-lt"/>
                <a:ea typeface="+mj-ea"/>
                <a:cs typeface="+mj-cs"/>
              </a:rPr>
              <a:t> </a:t>
            </a:r>
            <a:r>
              <a:rPr lang="en-US" sz="4800" kern="1200" dirty="0" err="1">
                <a:solidFill>
                  <a:srgbClr val="FFFFFF"/>
                </a:solidFill>
                <a:latin typeface="+mj-lt"/>
                <a:ea typeface="+mj-ea"/>
                <a:cs typeface="+mj-cs"/>
              </a:rPr>
              <a:t>clásicos</a:t>
            </a:r>
            <a:r>
              <a:rPr lang="en-US" sz="4800" kern="1200" dirty="0">
                <a:solidFill>
                  <a:srgbClr val="FFFFFF"/>
                </a:solidFill>
                <a:latin typeface="+mj-lt"/>
                <a:ea typeface="+mj-ea"/>
                <a:cs typeface="+mj-cs"/>
              </a:rPr>
              <a:t> de DP</a:t>
            </a:r>
          </a:p>
        </p:txBody>
      </p:sp>
      <p:sp>
        <p:nvSpPr>
          <p:cNvPr id="68" name="Rectangle 6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0" name="Rectangle 6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947381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7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BC3F333-0C99-0BBA-C67E-810E89888764}"/>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5C854DC-BE7D-06FE-767D-541C1FA95A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AB4CC44-918D-06F1-EA1A-F2D23AA24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D2C9E645-DE57-BD12-7D73-FAC8499605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3F83D1C-7E7D-667C-30F5-1664DA6830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4A5EB71-B510-FB42-721B-DD917BECE4C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1669416-DE3C-9FC1-C664-69A1F01B8996}"/>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Increasing</a:t>
            </a:r>
            <a:r>
              <a:rPr lang="es-AR" sz="4000" dirty="0">
                <a:solidFill>
                  <a:srgbClr val="FFFFFF"/>
                </a:solidFill>
              </a:rPr>
              <a:t> </a:t>
            </a:r>
            <a:r>
              <a:rPr lang="es-AR" sz="4000" dirty="0" err="1">
                <a:solidFill>
                  <a:srgbClr val="FFFFFF"/>
                </a:solidFill>
              </a:rPr>
              <a:t>Subsquence</a:t>
            </a:r>
            <a:r>
              <a:rPr lang="es-AR" sz="4000" dirty="0">
                <a:solidFill>
                  <a:srgbClr val="FFFFFF"/>
                </a:solidFill>
              </a:rPr>
              <a:t> (LIS)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9896DEBC-FBD2-DD9F-D866-191ED54150DE}"/>
                  </a:ext>
                </a:extLst>
              </p:cNvPr>
              <p:cNvSpPr>
                <a:spLocks noGrp="1"/>
              </p:cNvSpPr>
              <p:nvPr>
                <p:ph idx="1"/>
              </p:nvPr>
            </p:nvSpPr>
            <p:spPr>
              <a:xfrm>
                <a:off x="1371598" y="2318197"/>
                <a:ext cx="9723600" cy="3683358"/>
              </a:xfrm>
            </p:spPr>
            <p:txBody>
              <a:bodyPr tIns="108000" bIns="108000" anchor="t" anchorCtr="0">
                <a:noAutofit/>
              </a:bodyPr>
              <a:lstStyle/>
              <a:p>
                <a:pPr marL="0" indent="0">
                  <a:lnSpc>
                    <a:spcPct val="100000"/>
                  </a:lnSpc>
                  <a:buNone/>
                </a:pPr>
                <a:r>
                  <a:rPr lang="es-ES" sz="2000" dirty="0"/>
                  <a:t>Dado un arreglo de </a:t>
                </a:r>
                <a14:m>
                  <m:oMath xmlns:m="http://schemas.openxmlformats.org/officeDocument/2006/math">
                    <m:r>
                      <a:rPr lang="es-AR" sz="2000" b="1" i="1" smtClean="0">
                        <a:latin typeface="Cambria Math" panose="02040503050406030204" pitchFamily="18" charset="0"/>
                      </a:rPr>
                      <m:t>𝒏</m:t>
                    </m:r>
                  </m:oMath>
                </a14:m>
                <a:r>
                  <a:rPr lang="es-ES" sz="2000" dirty="0"/>
                  <a:t> números, hallar la subsecuencia creciente más grande posible.</a:t>
                </a:r>
              </a:p>
              <a:p>
                <a:pPr marL="0" indent="0">
                  <a:lnSpc>
                    <a:spcPct val="100000"/>
                  </a:lnSpc>
                  <a:buNone/>
                </a:pPr>
                <a:r>
                  <a:rPr lang="es-ES" sz="2000" i="1" u="sng" dirty="0">
                    <a:solidFill>
                      <a:schemeClr val="accent1">
                        <a:lumMod val="75000"/>
                      </a:schemeClr>
                    </a:solidFill>
                  </a:rPr>
                  <a:t>Una subsecuencia es una secuencia que se obtiene del arreglo original, eliminando algunos de sus elementos (posiblemente cero) y conservando su orden original.</a:t>
                </a:r>
              </a:p>
              <a:p>
                <a:pPr marL="0" indent="0">
                  <a:lnSpc>
                    <a:spcPct val="100000"/>
                  </a:lnSpc>
                  <a:buNone/>
                </a:pPr>
                <a:r>
                  <a:rPr lang="es-ES" sz="2000" i="1" u="sng" dirty="0">
                    <a:solidFill>
                      <a:schemeClr val="accent1">
                        <a:lumMod val="75000"/>
                      </a:schemeClr>
                    </a:solidFill>
                  </a:rPr>
                  <a:t>Para que sea creciente, cada número de la secuencia debe ser estrictamente mayor que el anterior.</a:t>
                </a:r>
              </a:p>
              <a:p>
                <a:pPr marL="0" indent="0">
                  <a:lnSpc>
                    <a:spcPct val="100000"/>
                  </a:lnSpc>
                  <a:buNone/>
                </a:pPr>
                <a:r>
                  <a:rPr lang="es-ES" sz="2000" b="1" dirty="0">
                    <a:solidFill>
                      <a:schemeClr val="tx1"/>
                    </a:solidFill>
                  </a:rPr>
                  <a:t>Por ejemplo:</a:t>
                </a:r>
                <a:br>
                  <a:rPr lang="es-ES" sz="2000" b="1" dirty="0">
                    <a:solidFill>
                      <a:schemeClr val="tx1"/>
                    </a:solidFill>
                  </a:rPr>
                </a:br>
                <a14:m>
                  <m:oMathPara xmlns:m="http://schemas.openxmlformats.org/officeDocument/2006/math">
                    <m:oMathParaPr>
                      <m:jc m:val="centerGroup"/>
                    </m:oMathParaPr>
                    <m:oMath xmlns:m="http://schemas.openxmlformats.org/officeDocument/2006/math">
                      <m:r>
                        <m:rPr>
                          <m:nor/>
                        </m:rPr>
                        <a:rPr lang="es-ES" sz="2000" dirty="0">
                          <a:latin typeface="Cambria Math" panose="02040503050406030204" pitchFamily="18" charset="0"/>
                        </a:rPr>
                        <m:t>A</m:t>
                      </m:r>
                      <m:r>
                        <m:rPr>
                          <m:nor/>
                        </m:rPr>
                        <a:rPr lang="es-ES" sz="2000" dirty="0" smtClean="0">
                          <a:solidFill>
                            <a:schemeClr val="tx1"/>
                          </a:solidFill>
                        </a:rPr>
                        <m:t>=(0,8,4,12,2,10,6,14,1,9,5,13,3,11,7,15)</m:t>
                      </m:r>
                    </m:oMath>
                  </m:oMathPara>
                </a14:m>
                <a:endParaRPr lang="es-ES" sz="2000" dirty="0">
                  <a:solidFill>
                    <a:schemeClr val="tx1"/>
                  </a:solidFill>
                </a:endParaRPr>
              </a:p>
              <a:p>
                <a:pPr marL="0" indent="0">
                  <a:lnSpc>
                    <a:spcPct val="100000"/>
                  </a:lnSpc>
                  <a:buNone/>
                </a:pPr>
                <a:r>
                  <a:rPr lang="es-ES" sz="2000" dirty="0">
                    <a:solidFill>
                      <a:schemeClr val="tx1"/>
                    </a:solidFill>
                  </a:rPr>
                  <a:t>Una de las subsecuencias crecientes más largas es:</a:t>
                </a:r>
              </a:p>
              <a:p>
                <a:pPr marL="0" indent="0">
                  <a:lnSpc>
                    <a:spcPct val="100000"/>
                  </a:lnSpc>
                  <a:buNone/>
                </a:pPr>
                <a14:m>
                  <m:oMathPara xmlns:m="http://schemas.openxmlformats.org/officeDocument/2006/math">
                    <m:oMathParaPr>
                      <m:jc m:val="centerGroup"/>
                    </m:oMathParaPr>
                    <m:oMath xmlns:m="http://schemas.openxmlformats.org/officeDocument/2006/math">
                      <m:r>
                        <m:rPr>
                          <m:nor/>
                        </m:rPr>
                        <a:rPr lang="es-ES" sz="2000" dirty="0">
                          <a:latin typeface="Cambria Math" panose="02040503050406030204" pitchFamily="18" charset="0"/>
                        </a:rPr>
                        <m:t>A</m:t>
                      </m:r>
                      <m:r>
                        <m:rPr>
                          <m:nor/>
                        </m:rPr>
                        <a:rPr lang="es-ES" sz="2000" dirty="0" smtClean="0">
                          <a:solidFill>
                            <a:schemeClr val="tx1"/>
                          </a:solidFill>
                        </a:rPr>
                        <m:t> ′ =(0,2,6,9,11,15)</m:t>
                      </m:r>
                    </m:oMath>
                  </m:oMathPara>
                </a14:m>
                <a:endParaRPr lang="es-ES" sz="2000" dirty="0">
                  <a:solidFill>
                    <a:schemeClr val="tx1"/>
                  </a:solidFill>
                </a:endParaRPr>
              </a:p>
            </p:txBody>
          </p:sp>
        </mc:Choice>
        <mc:Fallback>
          <p:sp>
            <p:nvSpPr>
              <p:cNvPr id="3" name="Content Placeholder 2">
                <a:extLst>
                  <a:ext uri="{FF2B5EF4-FFF2-40B4-BE49-F238E27FC236}">
                    <a16:creationId xmlns:a16="http://schemas.microsoft.com/office/drawing/2014/main" id="{9896DEBC-FBD2-DD9F-D866-191ED54150DE}"/>
                  </a:ext>
                </a:extLst>
              </p:cNvPr>
              <p:cNvSpPr>
                <a:spLocks noGrp="1" noRot="1" noChangeAspect="1" noMove="1" noResize="1" noEditPoints="1" noAdjustHandles="1" noChangeArrowheads="1" noChangeShapeType="1" noTextEdit="1"/>
              </p:cNvSpPr>
              <p:nvPr>
                <p:ph idx="1"/>
              </p:nvPr>
            </p:nvSpPr>
            <p:spPr>
              <a:xfrm>
                <a:off x="1371598" y="2318197"/>
                <a:ext cx="9723600" cy="3683358"/>
              </a:xfrm>
              <a:blipFill>
                <a:blip r:embed="rId4"/>
                <a:stretch>
                  <a:fillRect l="-627"/>
                </a:stretch>
              </a:blipFill>
            </p:spPr>
            <p:txBody>
              <a:bodyPr/>
              <a:lstStyle/>
              <a:p>
                <a:r>
                  <a:rPr lang="en-US">
                    <a:noFill/>
                  </a:rPr>
                  <a:t> </a:t>
                </a:r>
              </a:p>
            </p:txBody>
          </p:sp>
        </mc:Fallback>
      </mc:AlternateContent>
    </p:spTree>
    <p:extLst>
      <p:ext uri="{BB962C8B-B14F-4D97-AF65-F5344CB8AC3E}">
        <p14:creationId xmlns:p14="http://schemas.microsoft.com/office/powerpoint/2010/main" val="414363664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4D733EF-E74E-3FD6-99A0-C097F8B1CF9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E5D7219F-C196-98F5-8ACA-B049723D9B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940B9187-F18D-149F-E7E7-A1E9C4FC77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C0E5B232-E6B7-0429-8B94-60AF9FEC5C8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C10A224-8106-39CC-0A0A-261269DA46E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B4588A61-B4EA-B37E-841B-B4DFB5AA20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B143BD5-F116-8DF3-B996-A54B651370D7}"/>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Increasing</a:t>
            </a:r>
            <a:r>
              <a:rPr lang="es-AR" sz="4000" dirty="0">
                <a:solidFill>
                  <a:srgbClr val="FFFFFF"/>
                </a:solidFill>
              </a:rPr>
              <a:t> </a:t>
            </a:r>
            <a:r>
              <a:rPr lang="es-AR" sz="4000" dirty="0" err="1">
                <a:solidFill>
                  <a:srgbClr val="FFFFFF"/>
                </a:solidFill>
              </a:rPr>
              <a:t>Subsquence</a:t>
            </a:r>
            <a:r>
              <a:rPr lang="es-AR" sz="4000" dirty="0">
                <a:solidFill>
                  <a:srgbClr val="FFFFFF"/>
                </a:solidFill>
              </a:rPr>
              <a:t> (LIS)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B94E116B-04C4-5D07-B3E0-7496A4604172}"/>
                  </a:ext>
                </a:extLst>
              </p:cNvPr>
              <p:cNvSpPr>
                <a:spLocks noGrp="1"/>
              </p:cNvSpPr>
              <p:nvPr>
                <p:ph idx="1"/>
              </p:nvPr>
            </p:nvSpPr>
            <p:spPr>
              <a:xfrm>
                <a:off x="1371598" y="2327433"/>
                <a:ext cx="9723600" cy="3683358"/>
              </a:xfrm>
            </p:spPr>
            <p:txBody>
              <a:bodyPr tIns="108000" bIns="108000" anchor="t" anchorCtr="0">
                <a:noAutofit/>
              </a:bodyPr>
              <a:lstStyle/>
              <a:p>
                <a:pPr marL="0" indent="0">
                  <a:lnSpc>
                    <a:spcPct val="150000"/>
                  </a:lnSpc>
                  <a:spcBef>
                    <a:spcPts val="1200"/>
                  </a:spcBef>
                  <a:buNone/>
                </a:pPr>
                <a:r>
                  <a:rPr lang="es-ES" sz="2000" b="1" u="sng" dirty="0">
                    <a:solidFill>
                      <a:schemeClr val="tx1"/>
                    </a:solidFill>
                  </a:rPr>
                  <a:t>Solución</a:t>
                </a:r>
              </a:p>
              <a:p>
                <a:pPr marL="0" indent="0">
                  <a:lnSpc>
                    <a:spcPct val="100000"/>
                  </a:lnSpc>
                  <a:spcBef>
                    <a:spcPts val="1200"/>
                  </a:spcBef>
                  <a:buNone/>
                </a:pPr>
                <a:r>
                  <a:rPr lang="es-ES" sz="2000" dirty="0">
                    <a:solidFill>
                      <a:schemeClr val="tx1"/>
                    </a:solidFill>
                  </a:rPr>
                  <a:t>Definimos nuestro estado:</a:t>
                </a:r>
                <a:br>
                  <a:rPr lang="es-ES" sz="2000" dirty="0">
                    <a:solidFill>
                      <a:schemeClr val="tx1"/>
                    </a:solidFill>
                  </a:rPr>
                </a:br>
                <a14:m>
                  <m:oMath xmlns:m="http://schemas.openxmlformats.org/officeDocument/2006/math">
                    <m:r>
                      <a:rPr lang="es-AR" sz="2000" b="1" i="1" smtClean="0">
                        <a:solidFill>
                          <a:schemeClr val="tx1"/>
                        </a:solidFill>
                        <a:latin typeface="Cambria Math" panose="02040503050406030204" pitchFamily="18" charset="0"/>
                      </a:rPr>
                      <m:t>𝒅𝒑</m:t>
                    </m:r>
                    <m:d>
                      <m:dPr>
                        <m:begChr m:val="["/>
                        <m:endChr m:val="]"/>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𝒊</m:t>
                        </m:r>
                      </m:e>
                    </m:d>
                    <m:r>
                      <a:rPr lang="es-AR" sz="2000" b="1" i="1" smtClean="0">
                        <a:solidFill>
                          <a:schemeClr val="tx1"/>
                        </a:solidFill>
                        <a:latin typeface="Cambria Math" panose="02040503050406030204" pitchFamily="18" charset="0"/>
                      </a:rPr>
                      <m:t>:</m:t>
                    </m:r>
                  </m:oMath>
                </a14:m>
                <a:r>
                  <a:rPr lang="es-ES" sz="2000" dirty="0">
                    <a:solidFill>
                      <a:schemeClr val="tx1"/>
                    </a:solidFill>
                  </a:rPr>
                  <a:t> </a:t>
                </a:r>
                <a:r>
                  <a:rPr lang="es-ES" sz="2000" i="1" dirty="0">
                    <a:solidFill>
                      <a:schemeClr val="tx1"/>
                    </a:solidFill>
                  </a:rPr>
                  <a:t>La longitud de la subsecuencia más larga que termina en el </a:t>
                </a:r>
                <a14:m>
                  <m:oMath xmlns:m="http://schemas.openxmlformats.org/officeDocument/2006/math">
                    <m:r>
                      <a:rPr lang="es-ES" sz="2000" i="1" dirty="0" smtClean="0">
                        <a:solidFill>
                          <a:schemeClr val="tx1"/>
                        </a:solidFill>
                        <a:latin typeface="Cambria Math" panose="02040503050406030204" pitchFamily="18" charset="0"/>
                      </a:rPr>
                      <m:t>𝑖</m:t>
                    </m:r>
                  </m:oMath>
                </a14:m>
                <a:r>
                  <a:rPr lang="es-ES" sz="2000" i="1" dirty="0">
                    <a:solidFill>
                      <a:schemeClr val="tx1"/>
                    </a:solidFill>
                  </a:rPr>
                  <a:t>-</a:t>
                </a:r>
                <a:r>
                  <a:rPr lang="es-ES" sz="2000" i="1" dirty="0" err="1">
                    <a:solidFill>
                      <a:schemeClr val="tx1"/>
                    </a:solidFill>
                  </a:rPr>
                  <a:t>ésimo</a:t>
                </a:r>
                <a:r>
                  <a:rPr lang="es-ES" sz="2000" i="1" dirty="0">
                    <a:solidFill>
                      <a:schemeClr val="tx1"/>
                    </a:solidFill>
                  </a:rPr>
                  <a:t> elemento del arreglo.</a:t>
                </a:r>
              </a:p>
              <a:p>
                <a:pPr marL="0" indent="0">
                  <a:lnSpc>
                    <a:spcPct val="150000"/>
                  </a:lnSpc>
                  <a:spcBef>
                    <a:spcPts val="1200"/>
                  </a:spcBef>
                  <a:buNone/>
                </a:pPr>
                <a:r>
                  <a:rPr lang="es-ES" sz="2000" dirty="0"/>
                  <a:t>Inicialmente, </a:t>
                </a:r>
                <a14:m>
                  <m:oMath xmlns:m="http://schemas.openxmlformats.org/officeDocument/2006/math">
                    <m:r>
                      <a:rPr lang="es-AR" sz="2000" b="1" i="1" smtClean="0">
                        <a:latin typeface="Cambria Math" panose="02040503050406030204" pitchFamily="18" charset="0"/>
                      </a:rPr>
                      <m:t>𝒅𝒑</m:t>
                    </m:r>
                    <m:d>
                      <m:dPr>
                        <m:begChr m:val="["/>
                        <m:endChr m:val="]"/>
                        <m:ctrlPr>
                          <a:rPr lang="es-AR" sz="2000" b="1" i="1" smtClean="0">
                            <a:latin typeface="Cambria Math" panose="02040503050406030204" pitchFamily="18" charset="0"/>
                          </a:rPr>
                        </m:ctrlPr>
                      </m:dPr>
                      <m:e>
                        <m:r>
                          <a:rPr lang="es-AR" sz="2000" b="1" i="1" smtClean="0">
                            <a:latin typeface="Cambria Math" panose="02040503050406030204" pitchFamily="18" charset="0"/>
                          </a:rPr>
                          <m:t>𝒊</m:t>
                        </m:r>
                      </m:e>
                    </m:d>
                    <m:r>
                      <a:rPr lang="es-AR" sz="2000" b="1" i="1" smtClean="0">
                        <a:latin typeface="Cambria Math" panose="02040503050406030204" pitchFamily="18" charset="0"/>
                      </a:rPr>
                      <m:t>=</m:t>
                    </m:r>
                    <m:r>
                      <a:rPr lang="es-AR" sz="2000" b="0" i="1" smtClean="0">
                        <a:latin typeface="Cambria Math" panose="02040503050406030204" pitchFamily="18" charset="0"/>
                      </a:rPr>
                      <m:t>1 (∀ </m:t>
                    </m:r>
                    <m:r>
                      <a:rPr lang="es-AR" sz="2000" b="0" i="1" smtClean="0">
                        <a:latin typeface="Cambria Math" panose="02040503050406030204" pitchFamily="18" charset="0"/>
                      </a:rPr>
                      <m:t>𝑖</m:t>
                    </m:r>
                    <m:r>
                      <a:rPr lang="es-AR" sz="2000" b="0" i="1" smtClean="0">
                        <a:latin typeface="Cambria Math" panose="02040503050406030204" pitchFamily="18" charset="0"/>
                      </a:rPr>
                      <m:t>∈</m:t>
                    </m:r>
                    <m:d>
                      <m:dPr>
                        <m:begChr m:val="["/>
                        <m:endChr m:val="]"/>
                        <m:ctrlPr>
                          <a:rPr lang="es-AR" sz="2000" b="0" i="1" smtClean="0">
                            <a:latin typeface="Cambria Math" panose="02040503050406030204" pitchFamily="18" charset="0"/>
                          </a:rPr>
                        </m:ctrlPr>
                      </m:dPr>
                      <m:e>
                        <m:r>
                          <a:rPr lang="es-AR" sz="2000" b="0" i="1" smtClean="0">
                            <a:latin typeface="Cambria Math" panose="02040503050406030204" pitchFamily="18" charset="0"/>
                          </a:rPr>
                          <m:t>1,2,….</m:t>
                        </m:r>
                        <m:r>
                          <a:rPr lang="es-AR" sz="2000" b="0" i="1" smtClean="0">
                            <a:latin typeface="Cambria Math" panose="02040503050406030204" pitchFamily="18" charset="0"/>
                          </a:rPr>
                          <m:t>𝑛</m:t>
                        </m:r>
                      </m:e>
                    </m:d>
                    <m:r>
                      <a:rPr lang="es-AR" sz="2000" b="0" i="1" smtClean="0">
                        <a:latin typeface="Cambria Math" panose="02040503050406030204" pitchFamily="18" charset="0"/>
                      </a:rPr>
                      <m:t>)</m:t>
                    </m:r>
                  </m:oMath>
                </a14:m>
                <a:endParaRPr lang="es-ES" sz="2000" dirty="0">
                  <a:solidFill>
                    <a:schemeClr val="tx1"/>
                  </a:solidFill>
                </a:endParaRPr>
              </a:p>
              <a:p>
                <a:pPr marL="0" indent="0">
                  <a:lnSpc>
                    <a:spcPct val="150000"/>
                  </a:lnSpc>
                  <a:spcBef>
                    <a:spcPts val="1200"/>
                  </a:spcBef>
                  <a:buNone/>
                </a:pPr>
                <a:r>
                  <a:rPr lang="es-ES" sz="2000" dirty="0"/>
                  <a:t>Luego las dependencias quedan:</a:t>
                </a:r>
              </a:p>
              <a:p>
                <a:pPr marL="0" indent="0">
                  <a:lnSpc>
                    <a:spcPct val="150000"/>
                  </a:lnSpc>
                  <a:spcBef>
                    <a:spcPts val="1200"/>
                  </a:spcBef>
                  <a:buNone/>
                </a:pPr>
                <a14:m>
                  <m:oMathPara xmlns:m="http://schemas.openxmlformats.org/officeDocument/2006/math">
                    <m:oMathParaPr>
                      <m:jc m:val="centerGroup"/>
                    </m:oMathParaPr>
                    <m:oMath xmlns:m="http://schemas.openxmlformats.org/officeDocument/2006/math">
                      <m:r>
                        <a:rPr lang="es-AR" sz="2000" b="1" i="1" smtClean="0">
                          <a:solidFill>
                            <a:schemeClr val="tx1"/>
                          </a:solidFill>
                          <a:latin typeface="Cambria Math" panose="02040503050406030204" pitchFamily="18" charset="0"/>
                        </a:rPr>
                        <m:t>𝒅𝒑</m:t>
                      </m:r>
                      <m:d>
                        <m:dPr>
                          <m:begChr m:val="["/>
                          <m:endChr m:val="]"/>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𝒊</m:t>
                          </m:r>
                        </m:e>
                      </m:d>
                      <m:r>
                        <a:rPr lang="es-AR" sz="2000" b="1" i="1" smtClean="0">
                          <a:solidFill>
                            <a:schemeClr val="tx1"/>
                          </a:solidFill>
                          <a:latin typeface="Cambria Math" panose="02040503050406030204" pitchFamily="18" charset="0"/>
                        </a:rPr>
                        <m:t>=</m:t>
                      </m:r>
                      <m:func>
                        <m:funcPr>
                          <m:ctrlPr>
                            <a:rPr lang="es-AR" sz="2000" b="1" i="1" smtClean="0">
                              <a:solidFill>
                                <a:schemeClr val="tx1"/>
                              </a:solidFill>
                              <a:latin typeface="Cambria Math" panose="02040503050406030204" pitchFamily="18" charset="0"/>
                            </a:rPr>
                          </m:ctrlPr>
                        </m:funcPr>
                        <m:fName>
                          <m:r>
                            <a:rPr lang="es-AR" sz="2000" b="1" i="0" smtClean="0">
                              <a:solidFill>
                                <a:schemeClr val="tx1"/>
                              </a:solidFill>
                              <a:latin typeface="Cambria Math" panose="02040503050406030204" pitchFamily="18" charset="0"/>
                            </a:rPr>
                            <m:t>𝐦𝐚𝐱</m:t>
                          </m:r>
                        </m:fName>
                        <m:e>
                          <m:d>
                            <m:dPr>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𝒅𝒑</m:t>
                              </m:r>
                              <m:d>
                                <m:dPr>
                                  <m:begChr m:val="["/>
                                  <m:endChr m:val="]"/>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𝒋</m:t>
                                  </m:r>
                                </m:e>
                              </m:d>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𝟏</m:t>
                              </m:r>
                            </m:e>
                          </m:d>
                        </m:e>
                      </m:func>
                      <m:r>
                        <a:rPr lang="es-AR" sz="2000" b="0" i="1" smtClean="0">
                          <a:solidFill>
                            <a:schemeClr val="tx1"/>
                          </a:solidFill>
                          <a:latin typeface="Cambria Math" panose="02040503050406030204" pitchFamily="18" charset="0"/>
                        </a:rPr>
                        <m:t>(∀ </m:t>
                      </m:r>
                      <m:r>
                        <a:rPr lang="es-AR" sz="2000" b="0" i="1" smtClean="0">
                          <a:solidFill>
                            <a:schemeClr val="tx1"/>
                          </a:solidFill>
                          <a:latin typeface="Cambria Math" panose="02040503050406030204" pitchFamily="18" charset="0"/>
                        </a:rPr>
                        <m:t>𝑗</m:t>
                      </m:r>
                      <m:r>
                        <a:rPr lang="es-AR" sz="2000" b="0" i="1" smtClean="0">
                          <a:solidFill>
                            <a:schemeClr val="tx1"/>
                          </a:solidFill>
                          <a:latin typeface="Cambria Math" panose="02040503050406030204" pitchFamily="18" charset="0"/>
                        </a:rPr>
                        <m:t>&lt;</m:t>
                      </m:r>
                      <m:r>
                        <a:rPr lang="es-AR" sz="2000" b="0" i="1" smtClean="0">
                          <a:solidFill>
                            <a:schemeClr val="tx1"/>
                          </a:solidFill>
                          <a:latin typeface="Cambria Math" panose="02040503050406030204" pitchFamily="18" charset="0"/>
                        </a:rPr>
                        <m:t>𝑖</m:t>
                      </m:r>
                      <m:r>
                        <a:rPr lang="es-AR" sz="2000" b="0" i="1" smtClean="0">
                          <a:solidFill>
                            <a:schemeClr val="tx1"/>
                          </a:solidFill>
                          <a:latin typeface="Cambria Math" panose="02040503050406030204" pitchFamily="18" charset="0"/>
                        </a:rPr>
                        <m:t> :</m:t>
                      </m:r>
                      <m:r>
                        <a:rPr lang="es-AR" sz="2000" b="0" i="1" smtClean="0">
                          <a:solidFill>
                            <a:schemeClr val="tx1"/>
                          </a:solidFill>
                          <a:latin typeface="Cambria Math" panose="02040503050406030204" pitchFamily="18" charset="0"/>
                        </a:rPr>
                        <m:t>𝑎</m:t>
                      </m:r>
                      <m:d>
                        <m:dPr>
                          <m:begChr m:val="["/>
                          <m:endChr m:val="]"/>
                          <m:ctrlPr>
                            <a:rPr lang="es-AR" sz="2000" b="0" i="1" smtClean="0">
                              <a:solidFill>
                                <a:schemeClr val="tx1"/>
                              </a:solidFill>
                              <a:latin typeface="Cambria Math" panose="02040503050406030204" pitchFamily="18" charset="0"/>
                            </a:rPr>
                          </m:ctrlPr>
                        </m:dPr>
                        <m:e>
                          <m:r>
                            <a:rPr lang="es-AR" sz="2000" b="0" i="1" smtClean="0">
                              <a:solidFill>
                                <a:schemeClr val="tx1"/>
                              </a:solidFill>
                              <a:latin typeface="Cambria Math" panose="02040503050406030204" pitchFamily="18" charset="0"/>
                            </a:rPr>
                            <m:t>𝑗</m:t>
                          </m:r>
                        </m:e>
                      </m:d>
                      <m:r>
                        <a:rPr lang="es-AR" sz="2000" b="0" i="1" smtClean="0">
                          <a:solidFill>
                            <a:schemeClr val="tx1"/>
                          </a:solidFill>
                          <a:latin typeface="Cambria Math" panose="02040503050406030204" pitchFamily="18" charset="0"/>
                        </a:rPr>
                        <m:t>&lt;</m:t>
                      </m:r>
                      <m:r>
                        <a:rPr lang="es-AR" sz="2000" b="0" i="1" smtClean="0">
                          <a:solidFill>
                            <a:schemeClr val="tx1"/>
                          </a:solidFill>
                          <a:latin typeface="Cambria Math" panose="02040503050406030204" pitchFamily="18" charset="0"/>
                        </a:rPr>
                        <m:t>𝑎</m:t>
                      </m:r>
                      <m:d>
                        <m:dPr>
                          <m:begChr m:val="["/>
                          <m:endChr m:val="]"/>
                          <m:ctrlPr>
                            <a:rPr lang="es-AR" sz="2000" b="0" i="1" smtClean="0">
                              <a:solidFill>
                                <a:schemeClr val="tx1"/>
                              </a:solidFill>
                              <a:latin typeface="Cambria Math" panose="02040503050406030204" pitchFamily="18" charset="0"/>
                            </a:rPr>
                          </m:ctrlPr>
                        </m:dPr>
                        <m:e>
                          <m:r>
                            <a:rPr lang="es-AR" sz="2000" b="0" i="1" smtClean="0">
                              <a:solidFill>
                                <a:schemeClr val="tx1"/>
                              </a:solidFill>
                              <a:latin typeface="Cambria Math" panose="02040503050406030204" pitchFamily="18" charset="0"/>
                            </a:rPr>
                            <m:t>𝑖</m:t>
                          </m:r>
                        </m:e>
                      </m:d>
                      <m:r>
                        <a:rPr lang="es-AR" sz="2000" b="0" i="1" smtClean="0">
                          <a:solidFill>
                            <a:schemeClr val="tx1"/>
                          </a:solidFill>
                          <a:latin typeface="Cambria Math" panose="02040503050406030204" pitchFamily="18" charset="0"/>
                        </a:rPr>
                        <m:t>)</m:t>
                      </m:r>
                    </m:oMath>
                  </m:oMathPara>
                </a14:m>
                <a:endParaRPr lang="es-ES" sz="2000" dirty="0">
                  <a:solidFill>
                    <a:schemeClr val="tx1"/>
                  </a:solidFill>
                </a:endParaRPr>
              </a:p>
              <a:p>
                <a:pPr marL="0" indent="0">
                  <a:lnSpc>
                    <a:spcPct val="150000"/>
                  </a:lnSpc>
                  <a:spcBef>
                    <a:spcPts val="1200"/>
                  </a:spcBef>
                  <a:buNone/>
                </a:pPr>
                <a:r>
                  <a:rPr lang="es-ES" sz="2000" dirty="0"/>
                  <a:t>La respuesta final sería </a:t>
                </a:r>
                <a14:m>
                  <m:oMath xmlns:m="http://schemas.openxmlformats.org/officeDocument/2006/math">
                    <m:func>
                      <m:funcPr>
                        <m:ctrlPr>
                          <a:rPr lang="es-AR" sz="2000" b="1" i="1" smtClean="0">
                            <a:latin typeface="Cambria Math" panose="02040503050406030204" pitchFamily="18" charset="0"/>
                          </a:rPr>
                        </m:ctrlPr>
                      </m:funcPr>
                      <m:fName>
                        <m:r>
                          <a:rPr lang="es-AR" sz="2000" b="1" i="0" smtClean="0">
                            <a:latin typeface="Cambria Math" panose="02040503050406030204" pitchFamily="18" charset="0"/>
                          </a:rPr>
                          <m:t>𝐦𝐚𝐱</m:t>
                        </m:r>
                      </m:fName>
                      <m:e>
                        <m:d>
                          <m:dPr>
                            <m:ctrlPr>
                              <a:rPr lang="es-AR" sz="2000" b="1" i="1" smtClean="0">
                                <a:latin typeface="Cambria Math" panose="02040503050406030204" pitchFamily="18" charset="0"/>
                              </a:rPr>
                            </m:ctrlPr>
                          </m:dPr>
                          <m:e>
                            <m:r>
                              <a:rPr lang="es-AR" sz="2000" b="1" i="1" smtClean="0">
                                <a:latin typeface="Cambria Math" panose="02040503050406030204" pitchFamily="18" charset="0"/>
                              </a:rPr>
                              <m:t>𝒅𝒑</m:t>
                            </m:r>
                            <m:d>
                              <m:dPr>
                                <m:begChr m:val="["/>
                                <m:endChr m:val="]"/>
                                <m:ctrlPr>
                                  <a:rPr lang="es-AR" sz="2000" b="1" i="1" smtClean="0">
                                    <a:latin typeface="Cambria Math" panose="02040503050406030204" pitchFamily="18" charset="0"/>
                                  </a:rPr>
                                </m:ctrlPr>
                              </m:dPr>
                              <m:e>
                                <m:r>
                                  <a:rPr lang="es-AR" sz="2000" b="1" i="1" smtClean="0">
                                    <a:latin typeface="Cambria Math" panose="02040503050406030204" pitchFamily="18" charset="0"/>
                                  </a:rPr>
                                  <m:t>𝒊</m:t>
                                </m:r>
                              </m:e>
                            </m:d>
                          </m:e>
                        </m:d>
                      </m:e>
                    </m:func>
                    <m:r>
                      <a:rPr lang="es-AR" sz="2000" b="1" i="1" smtClean="0">
                        <a:latin typeface="Cambria Math" panose="02040503050406030204" pitchFamily="18" charset="0"/>
                      </a:rPr>
                      <m:t>(</m:t>
                    </m:r>
                    <m:r>
                      <a:rPr lang="es-AR" sz="2000" b="0" i="1" smtClean="0">
                        <a:latin typeface="Cambria Math" panose="02040503050406030204" pitchFamily="18" charset="0"/>
                      </a:rPr>
                      <m:t>∀ </m:t>
                    </m:r>
                    <m:r>
                      <a:rPr lang="es-AR" sz="2000" b="0" i="1" smtClean="0">
                        <a:latin typeface="Cambria Math" panose="02040503050406030204" pitchFamily="18" charset="0"/>
                      </a:rPr>
                      <m:t>𝑖</m:t>
                    </m:r>
                    <m:r>
                      <a:rPr lang="es-AR" sz="2000" b="0" i="1" smtClean="0">
                        <a:latin typeface="Cambria Math" panose="02040503050406030204" pitchFamily="18" charset="0"/>
                      </a:rPr>
                      <m:t>∈</m:t>
                    </m:r>
                    <m:d>
                      <m:dPr>
                        <m:begChr m:val="["/>
                        <m:endChr m:val="]"/>
                        <m:ctrlPr>
                          <a:rPr lang="es-AR" sz="2000" b="0" i="1" smtClean="0">
                            <a:latin typeface="Cambria Math" panose="02040503050406030204" pitchFamily="18" charset="0"/>
                          </a:rPr>
                        </m:ctrlPr>
                      </m:dPr>
                      <m:e>
                        <m:r>
                          <a:rPr lang="es-AR" sz="2000" b="0" i="1" smtClean="0">
                            <a:latin typeface="Cambria Math" panose="02040503050406030204" pitchFamily="18" charset="0"/>
                          </a:rPr>
                          <m:t>1,2,…,</m:t>
                        </m:r>
                        <m:r>
                          <a:rPr lang="es-AR" sz="2000" b="0" i="1" smtClean="0">
                            <a:latin typeface="Cambria Math" panose="02040503050406030204" pitchFamily="18" charset="0"/>
                          </a:rPr>
                          <m:t>𝑛</m:t>
                        </m:r>
                      </m:e>
                    </m:d>
                    <m:r>
                      <a:rPr lang="es-AR" sz="2000" b="0" i="1" smtClean="0">
                        <a:latin typeface="Cambria Math" panose="02040503050406030204" pitchFamily="18" charset="0"/>
                      </a:rPr>
                      <m:t>)</m:t>
                    </m:r>
                  </m:oMath>
                </a14:m>
                <a:endParaRPr lang="es-ES" sz="2000" dirty="0">
                  <a:solidFill>
                    <a:schemeClr val="tx1"/>
                  </a:solidFill>
                </a:endParaRPr>
              </a:p>
            </p:txBody>
          </p:sp>
        </mc:Choice>
        <mc:Fallback>
          <p:sp>
            <p:nvSpPr>
              <p:cNvPr id="3" name="Content Placeholder 2">
                <a:extLst>
                  <a:ext uri="{FF2B5EF4-FFF2-40B4-BE49-F238E27FC236}">
                    <a16:creationId xmlns:a16="http://schemas.microsoft.com/office/drawing/2014/main" id="{B94E116B-04C4-5D07-B3E0-7496A4604172}"/>
                  </a:ext>
                </a:extLst>
              </p:cNvPr>
              <p:cNvSpPr>
                <a:spLocks noGrp="1" noRot="1" noChangeAspect="1" noMove="1" noResize="1" noEditPoints="1" noAdjustHandles="1" noChangeArrowheads="1" noChangeShapeType="1" noTextEdit="1"/>
              </p:cNvSpPr>
              <p:nvPr>
                <p:ph idx="1"/>
              </p:nvPr>
            </p:nvSpPr>
            <p:spPr>
              <a:xfrm>
                <a:off x="1371598" y="2327433"/>
                <a:ext cx="9723600" cy="3683358"/>
              </a:xfrm>
              <a:blipFill>
                <a:blip r:embed="rId4"/>
                <a:stretch>
                  <a:fillRect l="-627" b="-9437"/>
                </a:stretch>
              </a:blipFill>
            </p:spPr>
            <p:txBody>
              <a:bodyPr/>
              <a:lstStyle/>
              <a:p>
                <a:r>
                  <a:rPr lang="en-US">
                    <a:noFill/>
                  </a:rPr>
                  <a:t> </a:t>
                </a:r>
              </a:p>
            </p:txBody>
          </p:sp>
        </mc:Fallback>
      </mc:AlternateContent>
    </p:spTree>
    <p:extLst>
      <p:ext uri="{BB962C8B-B14F-4D97-AF65-F5344CB8AC3E}">
        <p14:creationId xmlns:p14="http://schemas.microsoft.com/office/powerpoint/2010/main" val="167595690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FAA8270-4367-90D1-E827-07C924CE38F5}"/>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DEBE4AF-C75B-C6BF-6ED6-7196CD503E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FB1A012-CB9A-1235-086F-F739F9C3CE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ABA30FD-30F7-7EFA-C227-AA0686D1B5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1F9C50BF-C524-E95B-D6B0-4438A087E91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11F9D376-C22F-B53F-746B-F2E56FB2309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F769CE5-6CC9-3BE3-91BE-233D60A17008}"/>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Increasing</a:t>
            </a:r>
            <a:r>
              <a:rPr lang="es-AR" sz="4000" dirty="0">
                <a:solidFill>
                  <a:srgbClr val="FFFFFF"/>
                </a:solidFill>
              </a:rPr>
              <a:t> </a:t>
            </a:r>
            <a:r>
              <a:rPr lang="es-AR" sz="4000" dirty="0" err="1">
                <a:solidFill>
                  <a:srgbClr val="FFFFFF"/>
                </a:solidFill>
              </a:rPr>
              <a:t>Subsquence</a:t>
            </a:r>
            <a:r>
              <a:rPr lang="es-AR" sz="4000" dirty="0">
                <a:solidFill>
                  <a:srgbClr val="FFFFFF"/>
                </a:solidFill>
              </a:rPr>
              <a:t> (LIS)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06111670-B3E7-52C7-463B-4EF191332460}"/>
                  </a:ext>
                </a:extLst>
              </p:cNvPr>
              <p:cNvSpPr>
                <a:spLocks noGrp="1"/>
              </p:cNvSpPr>
              <p:nvPr>
                <p:ph idx="1"/>
              </p:nvPr>
            </p:nvSpPr>
            <p:spPr>
              <a:xfrm>
                <a:off x="1371598" y="2327433"/>
                <a:ext cx="9723600" cy="3683358"/>
              </a:xfrm>
            </p:spPr>
            <p:txBody>
              <a:bodyPr tIns="108000" bIns="108000" anchor="t" anchorCtr="0">
                <a:noAutofit/>
              </a:bodyPr>
              <a:lstStyle/>
              <a:p>
                <a:pPr marL="0" indent="0">
                  <a:lnSpc>
                    <a:spcPct val="150000"/>
                  </a:lnSpc>
                  <a:spcBef>
                    <a:spcPts val="0"/>
                  </a:spcBef>
                  <a:buNone/>
                </a:pPr>
                <a:r>
                  <a:rPr lang="es-ES" sz="2000" b="1" u="sng" dirty="0">
                    <a:solidFill>
                      <a:schemeClr val="tx1"/>
                    </a:solidFill>
                  </a:rPr>
                  <a:t>Solución</a:t>
                </a:r>
              </a:p>
              <a:p>
                <a:pPr marL="0" indent="0">
                  <a:lnSpc>
                    <a:spcPct val="150000"/>
                  </a:lnSpc>
                  <a:spcBef>
                    <a:spcPts val="0"/>
                  </a:spcBef>
                  <a:buNone/>
                </a:pPr>
                <a:r>
                  <a:rPr lang="es-ES" sz="2000" dirty="0"/>
                  <a:t>Complejidad en memoria: </a:t>
                </a:r>
                <a14:m>
                  <m:oMath xmlns:m="http://schemas.openxmlformats.org/officeDocument/2006/math">
                    <m:r>
                      <a:rPr lang="es-ES" sz="2000" b="1" i="1" dirty="0" smtClean="0">
                        <a:latin typeface="Cambria Math" panose="02040503050406030204" pitchFamily="18" charset="0"/>
                      </a:rPr>
                      <m:t>𝑶</m:t>
                    </m:r>
                    <m:r>
                      <a:rPr lang="es-ES" sz="2000" b="1" i="1" dirty="0" smtClean="0">
                        <a:latin typeface="Cambria Math" panose="02040503050406030204" pitchFamily="18" charset="0"/>
                      </a:rPr>
                      <m:t>(</m:t>
                    </m:r>
                    <m:r>
                      <a:rPr lang="es-ES" sz="2000" b="1" i="1" dirty="0" smtClean="0">
                        <a:latin typeface="Cambria Math" panose="02040503050406030204" pitchFamily="18" charset="0"/>
                      </a:rPr>
                      <m:t>𝒏</m:t>
                    </m:r>
                    <m:r>
                      <a:rPr lang="es-ES" sz="2000" b="1" i="1" dirty="0" smtClean="0">
                        <a:latin typeface="Cambria Math" panose="02040503050406030204" pitchFamily="18" charset="0"/>
                      </a:rPr>
                      <m:t>)</m:t>
                    </m:r>
                  </m:oMath>
                </a14:m>
                <a:endParaRPr lang="es-ES" sz="2000" b="1" dirty="0">
                  <a:solidFill>
                    <a:schemeClr val="tx1"/>
                  </a:solidFill>
                </a:endParaRPr>
              </a:p>
              <a:p>
                <a:pPr marL="0" indent="0">
                  <a:lnSpc>
                    <a:spcPct val="150000"/>
                  </a:lnSpc>
                  <a:spcBef>
                    <a:spcPts val="0"/>
                  </a:spcBef>
                  <a:buNone/>
                </a:pPr>
                <a:r>
                  <a:rPr lang="es-ES" sz="2000" dirty="0">
                    <a:solidFill>
                      <a:schemeClr val="tx1"/>
                    </a:solidFill>
                  </a:rPr>
                  <a:t>Complejidad </a:t>
                </a:r>
                <a:r>
                  <a:rPr lang="es-ES" sz="2000" dirty="0"/>
                  <a:t>en tiempo de ejecución: </a:t>
                </a:r>
                <a14:m>
                  <m:oMath xmlns:m="http://schemas.openxmlformats.org/officeDocument/2006/math">
                    <m:r>
                      <a:rPr lang="es-ES" sz="2000" b="1" i="1" dirty="0" smtClean="0">
                        <a:latin typeface="Cambria Math" panose="02040503050406030204" pitchFamily="18" charset="0"/>
                      </a:rPr>
                      <m:t>𝑶</m:t>
                    </m:r>
                    <m:d>
                      <m:dPr>
                        <m:ctrlPr>
                          <a:rPr lang="es-ES" sz="2000" b="1" i="1" dirty="0" smtClean="0">
                            <a:latin typeface="Cambria Math" panose="02040503050406030204" pitchFamily="18" charset="0"/>
                          </a:rPr>
                        </m:ctrlPr>
                      </m:dPr>
                      <m:e>
                        <m:sSup>
                          <m:sSupPr>
                            <m:ctrlPr>
                              <a:rPr lang="es-ES" sz="2000" b="1" i="1" dirty="0" smtClean="0">
                                <a:latin typeface="Cambria Math" panose="02040503050406030204" pitchFamily="18" charset="0"/>
                              </a:rPr>
                            </m:ctrlPr>
                          </m:sSupPr>
                          <m:e>
                            <m:r>
                              <a:rPr lang="es-ES" sz="2000" b="1" i="1" dirty="0" smtClean="0">
                                <a:latin typeface="Cambria Math" panose="02040503050406030204" pitchFamily="18" charset="0"/>
                              </a:rPr>
                              <m:t>𝒏</m:t>
                            </m:r>
                          </m:e>
                          <m:sup>
                            <m:r>
                              <a:rPr lang="es-ES" sz="2000" b="1" i="1" dirty="0" smtClean="0">
                                <a:latin typeface="Cambria Math" panose="02040503050406030204" pitchFamily="18" charset="0"/>
                              </a:rPr>
                              <m:t>𝟐</m:t>
                            </m:r>
                          </m:sup>
                        </m:sSup>
                      </m:e>
                    </m:d>
                  </m:oMath>
                </a14:m>
                <a:endParaRPr lang="es-AR" sz="2000" b="1" dirty="0"/>
              </a:p>
              <a:p>
                <a:pPr marL="0" indent="0">
                  <a:lnSpc>
                    <a:spcPct val="150000"/>
                  </a:lnSpc>
                  <a:spcBef>
                    <a:spcPts val="0"/>
                  </a:spcBef>
                  <a:buNone/>
                </a:pPr>
                <a:endParaRPr lang="es-ES" sz="2000" b="1" dirty="0"/>
              </a:p>
              <a:p>
                <a:pPr marL="0" indent="0">
                  <a:lnSpc>
                    <a:spcPct val="150000"/>
                  </a:lnSpc>
                  <a:spcBef>
                    <a:spcPts val="0"/>
                  </a:spcBef>
                  <a:buNone/>
                </a:pPr>
                <a:r>
                  <a:rPr lang="es-ES" sz="2000" b="1" u="sng" dirty="0">
                    <a:solidFill>
                      <a:schemeClr val="tx1"/>
                    </a:solidFill>
                  </a:rPr>
                  <a:t>Desafío</a:t>
                </a:r>
              </a:p>
              <a:p>
                <a:pPr marL="0" indent="0">
                  <a:lnSpc>
                    <a:spcPct val="150000"/>
                  </a:lnSpc>
                  <a:spcBef>
                    <a:spcPts val="0"/>
                  </a:spcBef>
                  <a:buNone/>
                </a:pPr>
                <a:r>
                  <a:rPr lang="es-ES" sz="2000" dirty="0">
                    <a:solidFill>
                      <a:schemeClr val="tx1"/>
                    </a:solidFill>
                  </a:rPr>
                  <a:t>Implementar la solución co</a:t>
                </a:r>
                <a:r>
                  <a:rPr lang="es-ES" sz="2000" dirty="0"/>
                  <a:t>n tiempo de ejecución </a:t>
                </a:r>
                <a14:m>
                  <m:oMath xmlns:m="http://schemas.openxmlformats.org/officeDocument/2006/math">
                    <m:r>
                      <a:rPr lang="es-ES" sz="2000" b="1" i="1" dirty="0" smtClean="0">
                        <a:latin typeface="Cambria Math" panose="02040503050406030204" pitchFamily="18" charset="0"/>
                      </a:rPr>
                      <m:t>𝑶</m:t>
                    </m:r>
                    <m:r>
                      <a:rPr lang="es-ES" sz="2000" b="1" i="1" dirty="0" smtClean="0">
                        <a:latin typeface="Cambria Math" panose="02040503050406030204" pitchFamily="18" charset="0"/>
                      </a:rPr>
                      <m:t>(</m:t>
                    </m:r>
                    <m:r>
                      <a:rPr lang="es-ES" sz="2000" b="1" i="1" dirty="0" smtClean="0">
                        <a:latin typeface="Cambria Math" panose="02040503050406030204" pitchFamily="18" charset="0"/>
                      </a:rPr>
                      <m:t>𝒏</m:t>
                    </m:r>
                    <m:r>
                      <a:rPr lang="es-ES" sz="2000" b="1" i="1" dirty="0" smtClean="0">
                        <a:latin typeface="Cambria Math" panose="02040503050406030204" pitchFamily="18" charset="0"/>
                      </a:rPr>
                      <m:t>⋅</m:t>
                    </m:r>
                    <m:r>
                      <a:rPr lang="es-AR" sz="2000" b="1" i="1" dirty="0" smtClean="0">
                        <a:latin typeface="Cambria Math" panose="02040503050406030204" pitchFamily="18" charset="0"/>
                      </a:rPr>
                      <m:t>𝒍𝒐𝒈</m:t>
                    </m:r>
                    <m:r>
                      <a:rPr lang="es-ES" sz="2000" b="1" i="1" dirty="0" smtClean="0">
                        <a:latin typeface="Cambria Math" panose="02040503050406030204" pitchFamily="18" charset="0"/>
                      </a:rPr>
                      <m:t>(</m:t>
                    </m:r>
                    <m:r>
                      <a:rPr lang="es-ES" sz="2000" b="1" i="1" dirty="0" smtClean="0">
                        <a:latin typeface="Cambria Math" panose="02040503050406030204" pitchFamily="18" charset="0"/>
                      </a:rPr>
                      <m:t>𝒏</m:t>
                    </m:r>
                    <m:r>
                      <a:rPr lang="es-ES" sz="2000" b="1" i="1" dirty="0" smtClean="0">
                        <a:latin typeface="Cambria Math" panose="02040503050406030204" pitchFamily="18" charset="0"/>
                      </a:rPr>
                      <m:t>))</m:t>
                    </m:r>
                  </m:oMath>
                </a14:m>
                <a:endParaRPr lang="es-ES" sz="2000" b="1" dirty="0">
                  <a:solidFill>
                    <a:schemeClr val="tx1"/>
                  </a:solidFill>
                </a:endParaRPr>
              </a:p>
            </p:txBody>
          </p:sp>
        </mc:Choice>
        <mc:Fallback>
          <p:sp>
            <p:nvSpPr>
              <p:cNvPr id="3" name="Content Placeholder 2">
                <a:extLst>
                  <a:ext uri="{FF2B5EF4-FFF2-40B4-BE49-F238E27FC236}">
                    <a16:creationId xmlns:a16="http://schemas.microsoft.com/office/drawing/2014/main" id="{06111670-B3E7-52C7-463B-4EF191332460}"/>
                  </a:ext>
                </a:extLst>
              </p:cNvPr>
              <p:cNvSpPr>
                <a:spLocks noGrp="1" noRot="1" noChangeAspect="1" noMove="1" noResize="1" noEditPoints="1" noAdjustHandles="1" noChangeArrowheads="1" noChangeShapeType="1" noTextEdit="1"/>
              </p:cNvSpPr>
              <p:nvPr>
                <p:ph idx="1"/>
              </p:nvPr>
            </p:nvSpPr>
            <p:spPr>
              <a:xfrm>
                <a:off x="1371598" y="2327433"/>
                <a:ext cx="9723600" cy="3683358"/>
              </a:xfrm>
              <a:blipFill>
                <a:blip r:embed="rId4"/>
                <a:stretch>
                  <a:fillRect l="-627"/>
                </a:stretch>
              </a:blipFill>
            </p:spPr>
            <p:txBody>
              <a:bodyPr/>
              <a:lstStyle/>
              <a:p>
                <a:r>
                  <a:rPr lang="en-US">
                    <a:noFill/>
                  </a:rPr>
                  <a:t> </a:t>
                </a:r>
              </a:p>
            </p:txBody>
          </p:sp>
        </mc:Fallback>
      </mc:AlternateContent>
    </p:spTree>
    <p:extLst>
      <p:ext uri="{BB962C8B-B14F-4D97-AF65-F5344CB8AC3E}">
        <p14:creationId xmlns:p14="http://schemas.microsoft.com/office/powerpoint/2010/main" val="143889462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099B47A-9F23-5F85-65F3-541122885E9D}"/>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1780BDC-DF1A-6A6E-6C0E-33947D1732C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7A5E29BC-C563-01F8-69C4-BE848192C5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5CAC2C2-FA4B-5C3D-F113-31F08111AD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4E7E2CF9-6CB9-83C9-C5B4-8784D3A5A0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D0A8D9FC-8036-056F-8128-A52973C0F9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726282B-6AF4-77E3-7ED3-78F494E1E586}"/>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Common</a:t>
            </a:r>
            <a:r>
              <a:rPr lang="es-AR" sz="4000" dirty="0">
                <a:solidFill>
                  <a:srgbClr val="FFFFFF"/>
                </a:solidFill>
              </a:rPr>
              <a:t> </a:t>
            </a:r>
            <a:r>
              <a:rPr lang="es-AR" sz="4000" dirty="0" err="1">
                <a:solidFill>
                  <a:srgbClr val="FFFFFF"/>
                </a:solidFill>
              </a:rPr>
              <a:t>Subsquence</a:t>
            </a:r>
            <a:r>
              <a:rPr lang="es-AR" sz="4000" dirty="0">
                <a:solidFill>
                  <a:srgbClr val="FFFFFF"/>
                </a:solidFill>
              </a:rPr>
              <a:t> (LCS)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FE663786-BA22-1918-E0F0-0FB1A09D93B0}"/>
                  </a:ext>
                </a:extLst>
              </p:cNvPr>
              <p:cNvSpPr>
                <a:spLocks noGrp="1"/>
              </p:cNvSpPr>
              <p:nvPr>
                <p:ph idx="1"/>
              </p:nvPr>
            </p:nvSpPr>
            <p:spPr>
              <a:xfrm>
                <a:off x="1371598" y="2318197"/>
                <a:ext cx="9723600" cy="3683358"/>
              </a:xfrm>
            </p:spPr>
            <p:txBody>
              <a:bodyPr tIns="108000" bIns="108000" anchor="t" anchorCtr="0">
                <a:noAutofit/>
              </a:bodyPr>
              <a:lstStyle/>
              <a:p>
                <a:pPr marL="0" indent="0">
                  <a:lnSpc>
                    <a:spcPct val="100000"/>
                  </a:lnSpc>
                  <a:buNone/>
                </a:pPr>
                <a:r>
                  <a:rPr lang="es-ES" sz="2000" dirty="0"/>
                  <a:t>Dado un arreglo </a:t>
                </a:r>
                <a14:m>
                  <m:oMath xmlns:m="http://schemas.openxmlformats.org/officeDocument/2006/math">
                    <m:r>
                      <a:rPr lang="es-AR" sz="2000" b="1" i="1" smtClean="0">
                        <a:latin typeface="Cambria Math" panose="02040503050406030204" pitchFamily="18" charset="0"/>
                      </a:rPr>
                      <m:t>𝒂</m:t>
                    </m:r>
                    <m:r>
                      <a:rPr lang="es-AR" sz="2000" b="0" i="1" smtClean="0">
                        <a:latin typeface="Cambria Math" panose="02040503050406030204" pitchFamily="18" charset="0"/>
                      </a:rPr>
                      <m:t> </m:t>
                    </m:r>
                  </m:oMath>
                </a14:m>
                <a:r>
                  <a:rPr lang="es-ES" sz="2000" dirty="0"/>
                  <a:t>de </a:t>
                </a:r>
                <a14:m>
                  <m:oMath xmlns:m="http://schemas.openxmlformats.org/officeDocument/2006/math">
                    <m:r>
                      <a:rPr lang="es-AR" sz="2000" b="1" i="1" smtClean="0">
                        <a:latin typeface="Cambria Math" panose="02040503050406030204" pitchFamily="18" charset="0"/>
                      </a:rPr>
                      <m:t>𝒏</m:t>
                    </m:r>
                  </m:oMath>
                </a14:m>
                <a:r>
                  <a:rPr lang="es-ES" sz="2000" dirty="0"/>
                  <a:t> números y un arreglo </a:t>
                </a:r>
                <a14:m>
                  <m:oMath xmlns:m="http://schemas.openxmlformats.org/officeDocument/2006/math">
                    <m:r>
                      <a:rPr lang="es-AR" sz="2000" b="1" i="1" smtClean="0">
                        <a:latin typeface="Cambria Math" panose="02040503050406030204" pitchFamily="18" charset="0"/>
                      </a:rPr>
                      <m:t>𝒃</m:t>
                    </m:r>
                    <m:r>
                      <a:rPr lang="es-AR" sz="2000" b="0" i="1" smtClean="0">
                        <a:latin typeface="Cambria Math" panose="02040503050406030204" pitchFamily="18" charset="0"/>
                      </a:rPr>
                      <m:t> </m:t>
                    </m:r>
                  </m:oMath>
                </a14:m>
                <a:r>
                  <a:rPr lang="es-ES" sz="2000" dirty="0"/>
                  <a:t>de </a:t>
                </a:r>
                <a14:m>
                  <m:oMath xmlns:m="http://schemas.openxmlformats.org/officeDocument/2006/math">
                    <m:r>
                      <a:rPr lang="es-ES" sz="2000" b="1" i="1" dirty="0" smtClean="0">
                        <a:latin typeface="Cambria Math" panose="02040503050406030204" pitchFamily="18" charset="0"/>
                      </a:rPr>
                      <m:t>𝒎</m:t>
                    </m:r>
                  </m:oMath>
                </a14:m>
                <a:r>
                  <a:rPr lang="es-ES" sz="2000" dirty="0"/>
                  <a:t> números, hallar la mayor subsecuencia en común a ambos arreglos.</a:t>
                </a:r>
              </a:p>
              <a:p>
                <a:pPr marL="0" indent="0">
                  <a:lnSpc>
                    <a:spcPct val="100000"/>
                  </a:lnSpc>
                  <a:buNone/>
                </a:pPr>
                <a:r>
                  <a:rPr lang="es-ES" sz="2000" b="1" u="sng" dirty="0">
                    <a:solidFill>
                      <a:schemeClr val="tx1"/>
                    </a:solidFill>
                  </a:rPr>
                  <a:t>Por ejemplo:</a:t>
                </a:r>
              </a:p>
              <a:p>
                <a:pPr marL="0" indent="0">
                  <a:lnSpc>
                    <a:spcPct val="100000"/>
                  </a:lnSpc>
                  <a:buNone/>
                </a:pPr>
                <a14:m>
                  <m:oMathPara xmlns:m="http://schemas.openxmlformats.org/officeDocument/2006/math">
                    <m:oMathParaPr>
                      <m:jc m:val="centerGroup"/>
                    </m:oMathParaPr>
                    <m:oMath xmlns:m="http://schemas.openxmlformats.org/officeDocument/2006/math">
                      <m:r>
                        <a:rPr lang="es-AR" sz="2000" b="1" i="1" smtClean="0">
                          <a:solidFill>
                            <a:schemeClr val="tx1"/>
                          </a:solidFill>
                          <a:latin typeface="Cambria Math" panose="02040503050406030204" pitchFamily="18" charset="0"/>
                        </a:rPr>
                        <m:t>𝒂</m:t>
                      </m:r>
                      <m:r>
                        <a:rPr lang="es-AR" sz="2000" b="1" i="1" smtClean="0">
                          <a:solidFill>
                            <a:schemeClr val="tx1"/>
                          </a:solidFill>
                          <a:latin typeface="Cambria Math" panose="02040503050406030204" pitchFamily="18" charset="0"/>
                        </a:rPr>
                        <m:t>=</m:t>
                      </m:r>
                      <m:d>
                        <m:dPr>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𝟑</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𝟏</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𝟑</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𝟐</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𝟕</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𝟒</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𝟖</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𝟐</m:t>
                          </m:r>
                        </m:e>
                      </m:d>
                    </m:oMath>
                    <m:oMath xmlns:m="http://schemas.openxmlformats.org/officeDocument/2006/math">
                      <m:r>
                        <a:rPr lang="es-AR" sz="2000" b="1" i="1" smtClean="0">
                          <a:solidFill>
                            <a:schemeClr val="tx1"/>
                          </a:solidFill>
                          <a:latin typeface="Cambria Math" panose="02040503050406030204" pitchFamily="18" charset="0"/>
                        </a:rPr>
                        <m:t>𝒃</m:t>
                      </m:r>
                      <m:r>
                        <a:rPr lang="es-AR" sz="2000" b="1" i="1" smtClean="0">
                          <a:solidFill>
                            <a:schemeClr val="tx1"/>
                          </a:solidFill>
                          <a:latin typeface="Cambria Math" panose="02040503050406030204" pitchFamily="18" charset="0"/>
                        </a:rPr>
                        <m:t>=</m:t>
                      </m:r>
                      <m:d>
                        <m:dPr>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𝟔</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𝟓</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𝟏</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𝟐</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𝟑</m:t>
                          </m:r>
                          <m:r>
                            <a:rPr lang="es-AR" sz="2000" b="1" i="1" smtClean="0">
                              <a:solidFill>
                                <a:schemeClr val="tx1"/>
                              </a:solidFill>
                              <a:latin typeface="Cambria Math" panose="02040503050406030204" pitchFamily="18" charset="0"/>
                            </a:rPr>
                            <m:t>,</m:t>
                          </m:r>
                          <m:r>
                            <a:rPr lang="es-AR" sz="2000" b="1" i="1" smtClean="0">
                              <a:solidFill>
                                <a:schemeClr val="tx1"/>
                              </a:solidFill>
                              <a:latin typeface="Cambria Math" panose="02040503050406030204" pitchFamily="18" charset="0"/>
                            </a:rPr>
                            <m:t>𝟒</m:t>
                          </m:r>
                        </m:e>
                      </m:d>
                    </m:oMath>
                  </m:oMathPara>
                </a14:m>
                <a:endParaRPr lang="es-AR" sz="2000" b="1" dirty="0">
                  <a:solidFill>
                    <a:schemeClr val="tx1"/>
                  </a:solidFill>
                </a:endParaRPr>
              </a:p>
              <a:p>
                <a:pPr marL="0" indent="0">
                  <a:lnSpc>
                    <a:spcPct val="100000"/>
                  </a:lnSpc>
                  <a:buNone/>
                </a:pPr>
                <a:r>
                  <a:rPr lang="es-ES" sz="2000" dirty="0"/>
                  <a:t>Entonces una posible mayor subsecuencia en común es la secuencia </a:t>
                </a:r>
                <a14:m>
                  <m:oMath xmlns:m="http://schemas.openxmlformats.org/officeDocument/2006/math">
                    <m:r>
                      <a:rPr lang="es-ES" sz="2000" i="1" dirty="0" smtClean="0">
                        <a:latin typeface="Cambria Math" panose="02040503050406030204" pitchFamily="18" charset="0"/>
                      </a:rPr>
                      <m:t>(1,2,4)</m:t>
                    </m:r>
                  </m:oMath>
                </a14:m>
                <a:r>
                  <a:rPr lang="es-ES" sz="2000" dirty="0">
                    <a:solidFill>
                      <a:schemeClr val="tx1"/>
                    </a:solidFill>
                  </a:rPr>
                  <a:t>.</a:t>
                </a:r>
              </a:p>
            </p:txBody>
          </p:sp>
        </mc:Choice>
        <mc:Fallback>
          <p:sp>
            <p:nvSpPr>
              <p:cNvPr id="3" name="Content Placeholder 2">
                <a:extLst>
                  <a:ext uri="{FF2B5EF4-FFF2-40B4-BE49-F238E27FC236}">
                    <a16:creationId xmlns:a16="http://schemas.microsoft.com/office/drawing/2014/main" id="{FE663786-BA22-1918-E0F0-0FB1A09D93B0}"/>
                  </a:ext>
                </a:extLst>
              </p:cNvPr>
              <p:cNvSpPr>
                <a:spLocks noGrp="1" noRot="1" noChangeAspect="1" noMove="1" noResize="1" noEditPoints="1" noAdjustHandles="1" noChangeArrowheads="1" noChangeShapeType="1" noTextEdit="1"/>
              </p:cNvSpPr>
              <p:nvPr>
                <p:ph idx="1"/>
              </p:nvPr>
            </p:nvSpPr>
            <p:spPr>
              <a:xfrm>
                <a:off x="1371598" y="2318197"/>
                <a:ext cx="9723600" cy="3683358"/>
              </a:xfrm>
              <a:blipFill>
                <a:blip r:embed="rId4"/>
                <a:stretch>
                  <a:fillRect l="-627"/>
                </a:stretch>
              </a:blipFill>
            </p:spPr>
            <p:txBody>
              <a:bodyPr/>
              <a:lstStyle/>
              <a:p>
                <a:r>
                  <a:rPr lang="en-US">
                    <a:noFill/>
                  </a:rPr>
                  <a:t> </a:t>
                </a:r>
              </a:p>
            </p:txBody>
          </p:sp>
        </mc:Fallback>
      </mc:AlternateContent>
    </p:spTree>
    <p:extLst>
      <p:ext uri="{BB962C8B-B14F-4D97-AF65-F5344CB8AC3E}">
        <p14:creationId xmlns:p14="http://schemas.microsoft.com/office/powerpoint/2010/main" val="66851826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2A71E6C-722A-6B51-D7BE-C5767636E222}"/>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70D6C6E5-ABA2-5E51-BCF5-2522D3E42A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CD86E6C2-D8EE-9402-60CE-B08D9D0AF19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E5A43D5-A24B-E9CA-2609-3472FF90E5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DD0B1336-1AB7-9571-87FF-BBEC73B7481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CFFD041E-7019-93E2-33C5-6A36EF195EA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5FD08D-EB01-9761-B7EF-ADFC5F3903DD}"/>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Common</a:t>
            </a:r>
            <a:r>
              <a:rPr lang="es-AR" sz="4000" dirty="0">
                <a:solidFill>
                  <a:srgbClr val="FFFFFF"/>
                </a:solidFill>
              </a:rPr>
              <a:t> </a:t>
            </a:r>
            <a:r>
              <a:rPr lang="es-AR" sz="4000" dirty="0" err="1">
                <a:solidFill>
                  <a:srgbClr val="FFFFFF"/>
                </a:solidFill>
              </a:rPr>
              <a:t>Subsquence</a:t>
            </a:r>
            <a:r>
              <a:rPr lang="es-AR" sz="4000" dirty="0">
                <a:solidFill>
                  <a:srgbClr val="FFFFFF"/>
                </a:solidFill>
              </a:rPr>
              <a:t> (LCS)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AB7F268D-EDEE-FE57-D4A8-58A28E85D548}"/>
                  </a:ext>
                </a:extLst>
              </p:cNvPr>
              <p:cNvSpPr>
                <a:spLocks noGrp="1"/>
              </p:cNvSpPr>
              <p:nvPr>
                <p:ph idx="1"/>
              </p:nvPr>
            </p:nvSpPr>
            <p:spPr>
              <a:xfrm>
                <a:off x="1371598" y="2327433"/>
                <a:ext cx="9723600" cy="3683358"/>
              </a:xfrm>
            </p:spPr>
            <p:txBody>
              <a:bodyPr tIns="108000" bIns="108000" anchor="t" anchorCtr="0">
                <a:noAutofit/>
              </a:bodyPr>
              <a:lstStyle/>
              <a:p>
                <a:pPr marL="0" indent="0">
                  <a:lnSpc>
                    <a:spcPct val="100000"/>
                  </a:lnSpc>
                  <a:buNone/>
                </a:pPr>
                <a:r>
                  <a:rPr lang="es-AR" sz="2000" b="1" u="sng" dirty="0"/>
                  <a:t>Solución</a:t>
                </a:r>
              </a:p>
              <a:p>
                <a:pPr marL="0" indent="0">
                  <a:lnSpc>
                    <a:spcPct val="100000"/>
                  </a:lnSpc>
                  <a:buNone/>
                </a:pPr>
                <a:r>
                  <a:rPr lang="es-AR" sz="2000" dirty="0"/>
                  <a:t>Definimos nuestro estado de la siguiente manera:</a:t>
                </a:r>
              </a:p>
              <a:p>
                <a:pPr marL="0" indent="0">
                  <a:lnSpc>
                    <a:spcPct val="100000"/>
                  </a:lnSpc>
                  <a:buNone/>
                </a:pPr>
                <a14:m>
                  <m:oMath xmlns:m="http://schemas.openxmlformats.org/officeDocument/2006/math">
                    <m:r>
                      <a:rPr lang="es-AR" sz="2000" b="1" i="1" smtClean="0">
                        <a:solidFill>
                          <a:schemeClr val="tx1"/>
                        </a:solidFill>
                        <a:latin typeface="Cambria Math" panose="02040503050406030204" pitchFamily="18" charset="0"/>
                      </a:rPr>
                      <m:t>𝒅𝒑</m:t>
                    </m:r>
                    <m:d>
                      <m:dPr>
                        <m:begChr m:val="["/>
                        <m:endChr m:val="]"/>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𝒊</m:t>
                        </m:r>
                      </m:e>
                    </m:d>
                    <m:d>
                      <m:dPr>
                        <m:begChr m:val="["/>
                        <m:endChr m:val="]"/>
                        <m:ctrlPr>
                          <a:rPr lang="es-AR" sz="2000" b="1" i="1" smtClean="0">
                            <a:solidFill>
                              <a:schemeClr val="tx1"/>
                            </a:solidFill>
                            <a:latin typeface="Cambria Math" panose="02040503050406030204" pitchFamily="18" charset="0"/>
                          </a:rPr>
                        </m:ctrlPr>
                      </m:dPr>
                      <m:e>
                        <m:r>
                          <a:rPr lang="es-AR" sz="2000" b="1" i="1" smtClean="0">
                            <a:solidFill>
                              <a:schemeClr val="tx1"/>
                            </a:solidFill>
                            <a:latin typeface="Cambria Math" panose="02040503050406030204" pitchFamily="18" charset="0"/>
                          </a:rPr>
                          <m:t>𝒋</m:t>
                        </m:r>
                      </m:e>
                    </m:d>
                    <m:r>
                      <a:rPr lang="es-AR" sz="2000" b="1" i="1" smtClean="0">
                        <a:solidFill>
                          <a:schemeClr val="tx1"/>
                        </a:solidFill>
                        <a:latin typeface="Cambria Math" panose="02040503050406030204" pitchFamily="18" charset="0"/>
                      </a:rPr>
                      <m:t>:</m:t>
                    </m:r>
                  </m:oMath>
                </a14:m>
                <a:r>
                  <a:rPr lang="es-ES" sz="2000" b="1" dirty="0">
                    <a:solidFill>
                      <a:schemeClr val="tx1"/>
                    </a:solidFill>
                  </a:rPr>
                  <a:t> </a:t>
                </a:r>
                <a:r>
                  <a:rPr lang="es-ES" sz="2000" dirty="0"/>
                  <a:t>La mayor subsecuencia en común considerando los primeros </a:t>
                </a:r>
                <a14:m>
                  <m:oMath xmlns:m="http://schemas.openxmlformats.org/officeDocument/2006/math">
                    <m:r>
                      <a:rPr lang="es-ES" sz="2000" b="1" i="1" dirty="0" smtClean="0">
                        <a:latin typeface="Cambria Math" panose="02040503050406030204" pitchFamily="18" charset="0"/>
                      </a:rPr>
                      <m:t>𝒊</m:t>
                    </m:r>
                    <m:r>
                      <a:rPr lang="es-ES" sz="2000" b="1" i="1" dirty="0" smtClean="0">
                        <a:latin typeface="Cambria Math" panose="02040503050406030204" pitchFamily="18" charset="0"/>
                      </a:rPr>
                      <m:t> </m:t>
                    </m:r>
                  </m:oMath>
                </a14:m>
                <a:r>
                  <a:rPr lang="es-ES" sz="2000" dirty="0"/>
                  <a:t>elementos del arreglo </a:t>
                </a:r>
                <a14:m>
                  <m:oMath xmlns:m="http://schemas.openxmlformats.org/officeDocument/2006/math">
                    <m:r>
                      <a:rPr lang="es-ES" sz="2000" b="1" i="1" dirty="0" smtClean="0">
                        <a:latin typeface="Cambria Math" panose="02040503050406030204" pitchFamily="18" charset="0"/>
                      </a:rPr>
                      <m:t>𝒂</m:t>
                    </m:r>
                  </m:oMath>
                </a14:m>
                <a:r>
                  <a:rPr lang="es-ES" sz="2000" dirty="0"/>
                  <a:t> los primeros </a:t>
                </a:r>
                <a14:m>
                  <m:oMath xmlns:m="http://schemas.openxmlformats.org/officeDocument/2006/math">
                    <m:r>
                      <a:rPr lang="es-ES" sz="2000" b="1" i="1" dirty="0" smtClean="0">
                        <a:latin typeface="Cambria Math" panose="02040503050406030204" pitchFamily="18" charset="0"/>
                      </a:rPr>
                      <m:t>𝒋</m:t>
                    </m:r>
                  </m:oMath>
                </a14:m>
                <a:r>
                  <a:rPr lang="es-ES" sz="2000" dirty="0"/>
                  <a:t> elementos del arreglo </a:t>
                </a:r>
                <a14:m>
                  <m:oMath xmlns:m="http://schemas.openxmlformats.org/officeDocument/2006/math">
                    <m:r>
                      <a:rPr lang="es-ES" sz="2000" b="1" i="1" dirty="0" smtClean="0">
                        <a:latin typeface="Cambria Math" panose="02040503050406030204" pitchFamily="18" charset="0"/>
                      </a:rPr>
                      <m:t>𝒃</m:t>
                    </m:r>
                  </m:oMath>
                </a14:m>
                <a:r>
                  <a:rPr lang="es-ES" sz="2000" dirty="0"/>
                  <a:t>.</a:t>
                </a:r>
              </a:p>
              <a:p>
                <a:pPr marL="0" indent="0">
                  <a:lnSpc>
                    <a:spcPct val="100000"/>
                  </a:lnSpc>
                  <a:buNone/>
                </a:pPr>
                <a:r>
                  <a:rPr lang="es-ES" sz="2000" dirty="0">
                    <a:solidFill>
                      <a:schemeClr val="tx1"/>
                    </a:solidFill>
                  </a:rPr>
                  <a:t>Inicialmente </a:t>
                </a:r>
                <a14:m>
                  <m:oMath xmlns:m="http://schemas.openxmlformats.org/officeDocument/2006/math">
                    <m:r>
                      <a:rPr lang="es-ES" sz="2000" b="1" i="1" dirty="0" smtClean="0">
                        <a:solidFill>
                          <a:schemeClr val="tx1"/>
                        </a:solidFill>
                        <a:latin typeface="Cambria Math" panose="02040503050406030204" pitchFamily="18" charset="0"/>
                      </a:rPr>
                      <m:t>𝒅𝒑</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𝟎</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𝟎</m:t>
                    </m:r>
                    <m:r>
                      <a:rPr lang="es-ES" sz="2000" b="1" i="1" dirty="0" smtClean="0">
                        <a:solidFill>
                          <a:schemeClr val="tx1"/>
                        </a:solidFill>
                        <a:latin typeface="Cambria Math" panose="02040503050406030204" pitchFamily="18" charset="0"/>
                      </a:rPr>
                      <m:t>] = </m:t>
                    </m:r>
                    <m:r>
                      <a:rPr lang="es-ES" sz="2000" b="1" i="1" dirty="0" smtClean="0">
                        <a:solidFill>
                          <a:schemeClr val="tx1"/>
                        </a:solidFill>
                        <a:latin typeface="Cambria Math" panose="02040503050406030204" pitchFamily="18" charset="0"/>
                      </a:rPr>
                      <m:t>𝟎</m:t>
                    </m:r>
                  </m:oMath>
                </a14:m>
                <a:endParaRPr lang="es-ES" sz="2000" b="1" dirty="0">
                  <a:solidFill>
                    <a:schemeClr val="tx1"/>
                  </a:solidFill>
                </a:endParaRPr>
              </a:p>
              <a:p>
                <a:pPr marL="0" indent="0">
                  <a:lnSpc>
                    <a:spcPct val="100000"/>
                  </a:lnSpc>
                  <a:buNone/>
                </a:pPr>
                <a:r>
                  <a:rPr lang="es-ES" sz="2000" dirty="0"/>
                  <a:t>Luego, para cada estado </a:t>
                </a:r>
                <a14:m>
                  <m:oMath xmlns:m="http://schemas.openxmlformats.org/officeDocument/2006/math">
                    <m:r>
                      <a:rPr lang="es-ES" sz="2000" b="1" i="1" dirty="0" smtClean="0">
                        <a:latin typeface="Cambria Math" panose="02040503050406030204" pitchFamily="18" charset="0"/>
                      </a:rPr>
                      <m:t>(</m:t>
                    </m:r>
                    <m:r>
                      <a:rPr lang="es-ES" sz="2000" b="1" i="1" dirty="0" err="1" smtClean="0">
                        <a:latin typeface="Cambria Math" panose="02040503050406030204" pitchFamily="18" charset="0"/>
                      </a:rPr>
                      <m:t>𝒊</m:t>
                    </m:r>
                    <m:r>
                      <a:rPr lang="es-AR" sz="2000" b="1" i="1" dirty="0" smtClean="0">
                        <a:latin typeface="Cambria Math" panose="02040503050406030204" pitchFamily="18" charset="0"/>
                      </a:rPr>
                      <m:t>,</m:t>
                    </m:r>
                    <m:r>
                      <a:rPr lang="es-ES" sz="2000" b="1" i="1" dirty="0" err="1" smtClean="0">
                        <a:latin typeface="Cambria Math" panose="02040503050406030204" pitchFamily="18" charset="0"/>
                      </a:rPr>
                      <m:t>𝒋</m:t>
                    </m:r>
                    <m:r>
                      <a:rPr lang="es-ES" sz="2000" b="1" i="1" dirty="0" smtClean="0">
                        <a:latin typeface="Cambria Math" panose="02040503050406030204" pitchFamily="18" charset="0"/>
                      </a:rPr>
                      <m:t>)</m:t>
                    </m:r>
                    <m:r>
                      <a:rPr lang="es-ES" sz="2000" b="1" i="1" dirty="0">
                        <a:latin typeface="Cambria Math" panose="02040503050406030204" pitchFamily="18" charset="0"/>
                      </a:rPr>
                      <m:t> </m:t>
                    </m:r>
                  </m:oMath>
                </a14:m>
                <a:r>
                  <a:rPr lang="es-ES" sz="2000" dirty="0"/>
                  <a:t>inicializamos:</a:t>
                </a:r>
              </a:p>
              <a:p>
                <a:pPr marL="0" indent="0">
                  <a:lnSpc>
                    <a:spcPct val="100000"/>
                  </a:lnSpc>
                  <a:buNone/>
                </a:pPr>
                <a14:m>
                  <m:oMathPara xmlns:m="http://schemas.openxmlformats.org/officeDocument/2006/math">
                    <m:oMathParaPr>
                      <m:jc m:val="centerGroup"/>
                    </m:oMathParaPr>
                    <m:oMath xmlns:m="http://schemas.openxmlformats.org/officeDocument/2006/math">
                      <m:r>
                        <a:rPr lang="es-ES" sz="2000" b="1" i="1" dirty="0" smtClean="0">
                          <a:latin typeface="Cambria Math" panose="02040503050406030204" pitchFamily="18" charset="0"/>
                        </a:rPr>
                        <m:t>𝒅𝒑</m:t>
                      </m:r>
                      <m:r>
                        <a:rPr lang="es-ES" sz="2000" b="1" i="1" dirty="0" smtClean="0">
                          <a:latin typeface="Cambria Math" panose="02040503050406030204" pitchFamily="18" charset="0"/>
                        </a:rPr>
                        <m:t>[</m:t>
                      </m:r>
                      <m:r>
                        <a:rPr lang="es-ES" sz="2000" b="1" i="1" dirty="0" smtClean="0">
                          <a:latin typeface="Cambria Math" panose="02040503050406030204" pitchFamily="18" charset="0"/>
                        </a:rPr>
                        <m:t>𝒊</m:t>
                      </m:r>
                      <m:r>
                        <a:rPr lang="es-ES" sz="2000" b="1" i="1" dirty="0" smtClean="0">
                          <a:latin typeface="Cambria Math" panose="02040503050406030204" pitchFamily="18" charset="0"/>
                        </a:rPr>
                        <m:t>][</m:t>
                      </m:r>
                      <m:r>
                        <a:rPr lang="es-ES" sz="2000" b="1" i="1" dirty="0" smtClean="0">
                          <a:latin typeface="Cambria Math" panose="02040503050406030204" pitchFamily="18" charset="0"/>
                        </a:rPr>
                        <m:t>𝒋</m:t>
                      </m:r>
                      <m:r>
                        <a:rPr lang="es-ES" sz="2000" b="1" i="1" dirty="0" smtClean="0">
                          <a:latin typeface="Cambria Math" panose="02040503050406030204" pitchFamily="18" charset="0"/>
                        </a:rPr>
                        <m:t>] = </m:t>
                      </m:r>
                      <m:r>
                        <a:rPr lang="es-ES" sz="2000" b="1" i="1" dirty="0" err="1" smtClean="0">
                          <a:latin typeface="Cambria Math" panose="02040503050406030204" pitchFamily="18" charset="0"/>
                        </a:rPr>
                        <m:t>𝒎𝒂𝒙</m:t>
                      </m:r>
                      <m:r>
                        <a:rPr lang="es-ES" sz="2000" b="1" i="1" dirty="0" smtClean="0">
                          <a:latin typeface="Cambria Math" panose="02040503050406030204" pitchFamily="18" charset="0"/>
                        </a:rPr>
                        <m:t>⁡(</m:t>
                      </m:r>
                      <m:r>
                        <a:rPr lang="es-ES" sz="2000" b="1" i="1" dirty="0" err="1" smtClean="0">
                          <a:latin typeface="Cambria Math" panose="02040503050406030204" pitchFamily="18" charset="0"/>
                        </a:rPr>
                        <m:t>𝒅𝒑</m:t>
                      </m:r>
                      <m:r>
                        <a:rPr lang="es-ES" sz="2000" b="1" i="1" dirty="0" smtClean="0">
                          <a:latin typeface="Cambria Math" panose="02040503050406030204" pitchFamily="18" charset="0"/>
                        </a:rPr>
                        <m:t>[</m:t>
                      </m:r>
                      <m:r>
                        <a:rPr lang="es-ES" sz="2000" b="1" i="1" dirty="0" smtClean="0">
                          <a:latin typeface="Cambria Math" panose="02040503050406030204" pitchFamily="18" charset="0"/>
                        </a:rPr>
                        <m:t>𝒊</m:t>
                      </m:r>
                      <m:r>
                        <a:rPr lang="es-ES" sz="2000" b="1" i="1" dirty="0" smtClean="0">
                          <a:latin typeface="Cambria Math" panose="02040503050406030204" pitchFamily="18" charset="0"/>
                        </a:rPr>
                        <m:t>−</m:t>
                      </m:r>
                      <m:r>
                        <a:rPr lang="es-ES" sz="2000" b="1" i="1" dirty="0" smtClean="0">
                          <a:latin typeface="Cambria Math" panose="02040503050406030204" pitchFamily="18" charset="0"/>
                        </a:rPr>
                        <m:t>𝟏</m:t>
                      </m:r>
                      <m:r>
                        <a:rPr lang="es-ES" sz="2000" b="1" i="1" dirty="0" smtClean="0">
                          <a:latin typeface="Cambria Math" panose="02040503050406030204" pitchFamily="18" charset="0"/>
                        </a:rPr>
                        <m:t>][</m:t>
                      </m:r>
                      <m:r>
                        <a:rPr lang="es-ES" sz="2000" b="1" i="1" dirty="0" smtClean="0">
                          <a:latin typeface="Cambria Math" panose="02040503050406030204" pitchFamily="18" charset="0"/>
                        </a:rPr>
                        <m:t>𝒋</m:t>
                      </m:r>
                      <m:r>
                        <a:rPr lang="es-ES" sz="2000" b="1" i="1" dirty="0" smtClean="0">
                          <a:latin typeface="Cambria Math" panose="02040503050406030204" pitchFamily="18" charset="0"/>
                        </a:rPr>
                        <m:t>],</m:t>
                      </m:r>
                      <m:r>
                        <a:rPr lang="es-ES" sz="2000" b="1" i="1" dirty="0" err="1" smtClean="0">
                          <a:latin typeface="Cambria Math" panose="02040503050406030204" pitchFamily="18" charset="0"/>
                        </a:rPr>
                        <m:t>𝒅𝒑</m:t>
                      </m:r>
                      <m:r>
                        <a:rPr lang="es-ES" sz="2000" b="1" i="1" dirty="0" smtClean="0">
                          <a:latin typeface="Cambria Math" panose="02040503050406030204" pitchFamily="18" charset="0"/>
                        </a:rPr>
                        <m:t>[</m:t>
                      </m:r>
                      <m:r>
                        <a:rPr lang="es-ES" sz="2000" b="1" i="1" dirty="0" smtClean="0">
                          <a:latin typeface="Cambria Math" panose="02040503050406030204" pitchFamily="18" charset="0"/>
                        </a:rPr>
                        <m:t>𝒊</m:t>
                      </m:r>
                      <m:r>
                        <a:rPr lang="es-ES" sz="2000" b="1" i="1" dirty="0" smtClean="0">
                          <a:latin typeface="Cambria Math" panose="02040503050406030204" pitchFamily="18" charset="0"/>
                        </a:rPr>
                        <m:t>][</m:t>
                      </m:r>
                      <m:r>
                        <a:rPr lang="es-ES" sz="2000" b="1" i="1" dirty="0" smtClean="0">
                          <a:latin typeface="Cambria Math" panose="02040503050406030204" pitchFamily="18" charset="0"/>
                        </a:rPr>
                        <m:t>𝒋</m:t>
                      </m:r>
                      <m:r>
                        <a:rPr lang="es-ES" sz="2000" b="1" i="1" dirty="0" smtClean="0">
                          <a:latin typeface="Cambria Math" panose="02040503050406030204" pitchFamily="18" charset="0"/>
                        </a:rPr>
                        <m:t>−</m:t>
                      </m:r>
                      <m:r>
                        <a:rPr lang="es-ES" sz="2000" b="1" i="1" dirty="0" smtClean="0">
                          <a:latin typeface="Cambria Math" panose="02040503050406030204" pitchFamily="18" charset="0"/>
                        </a:rPr>
                        <m:t>𝟏</m:t>
                      </m:r>
                      <m:r>
                        <a:rPr lang="es-ES" sz="2000" b="1" i="1" dirty="0" smtClean="0">
                          <a:latin typeface="Cambria Math" panose="02040503050406030204" pitchFamily="18" charset="0"/>
                        </a:rPr>
                        <m:t>])</m:t>
                      </m:r>
                    </m:oMath>
                  </m:oMathPara>
                </a14:m>
                <a:endParaRPr lang="es-ES" sz="2000" b="1" dirty="0">
                  <a:solidFill>
                    <a:schemeClr val="tx1"/>
                  </a:solidFill>
                </a:endParaRPr>
              </a:p>
              <a:p>
                <a:pPr marL="0" indent="0">
                  <a:lnSpc>
                    <a:spcPct val="100000"/>
                  </a:lnSpc>
                  <a:buNone/>
                </a:pPr>
                <a:r>
                  <a:rPr lang="es-ES" sz="2000" dirty="0">
                    <a:solidFill>
                      <a:schemeClr val="tx1"/>
                    </a:solidFill>
                  </a:rPr>
                  <a:t>Si </a:t>
                </a:r>
                <a14:m>
                  <m:oMath xmlns:m="http://schemas.openxmlformats.org/officeDocument/2006/math">
                    <m:r>
                      <a:rPr lang="es-ES" sz="2000" b="1" i="1" dirty="0" smtClean="0">
                        <a:solidFill>
                          <a:schemeClr val="tx1"/>
                        </a:solidFill>
                        <a:latin typeface="Cambria Math" panose="02040503050406030204" pitchFamily="18" charset="0"/>
                      </a:rPr>
                      <m:t>𝒂</m:t>
                    </m:r>
                    <m:d>
                      <m:dPr>
                        <m:begChr m:val="["/>
                        <m:endChr m:val="]"/>
                        <m:ctrlPr>
                          <a:rPr lang="es-ES" sz="2000" b="1" i="1" dirty="0" smtClean="0">
                            <a:solidFill>
                              <a:schemeClr val="tx1"/>
                            </a:solidFill>
                            <a:latin typeface="Cambria Math" panose="02040503050406030204" pitchFamily="18" charset="0"/>
                          </a:rPr>
                        </m:ctrlPr>
                      </m:dPr>
                      <m:e>
                        <m:r>
                          <a:rPr lang="es-ES" sz="2000" b="1" i="1" dirty="0" smtClean="0">
                            <a:solidFill>
                              <a:schemeClr val="tx1"/>
                            </a:solidFill>
                            <a:latin typeface="Cambria Math" panose="02040503050406030204" pitchFamily="18" charset="0"/>
                          </a:rPr>
                          <m:t>𝒊</m:t>
                        </m:r>
                      </m:e>
                    </m:d>
                    <m:r>
                      <a:rPr lang="es-ES" sz="2000" b="1" i="1" dirty="0" smtClean="0">
                        <a:solidFill>
                          <a:schemeClr val="tx1"/>
                        </a:solidFill>
                        <a:latin typeface="Cambria Math" panose="02040503050406030204" pitchFamily="18" charset="0"/>
                      </a:rPr>
                      <m:t>==</m:t>
                    </m:r>
                    <m:r>
                      <a:rPr lang="es-AR" sz="2000" b="1" i="1" dirty="0" smtClean="0">
                        <a:solidFill>
                          <a:schemeClr val="tx1"/>
                        </a:solidFill>
                        <a:latin typeface="Cambria Math" panose="02040503050406030204" pitchFamily="18" charset="0"/>
                      </a:rPr>
                      <m:t>𝒃</m:t>
                    </m:r>
                    <m:d>
                      <m:dPr>
                        <m:begChr m:val="["/>
                        <m:endChr m:val="]"/>
                        <m:ctrlPr>
                          <a:rPr lang="es-ES" sz="2000" b="1" i="1" dirty="0" smtClean="0">
                            <a:solidFill>
                              <a:schemeClr val="tx1"/>
                            </a:solidFill>
                            <a:latin typeface="Cambria Math" panose="02040503050406030204" pitchFamily="18" charset="0"/>
                          </a:rPr>
                        </m:ctrlPr>
                      </m:dPr>
                      <m:e>
                        <m:r>
                          <a:rPr lang="es-ES" sz="2000" b="1" i="1" dirty="0" smtClean="0">
                            <a:solidFill>
                              <a:schemeClr val="tx1"/>
                            </a:solidFill>
                            <a:latin typeface="Cambria Math" panose="02040503050406030204" pitchFamily="18" charset="0"/>
                          </a:rPr>
                          <m:t>𝒋</m:t>
                        </m:r>
                      </m:e>
                    </m:d>
                  </m:oMath>
                </a14:m>
                <a:r>
                  <a:rPr lang="es-ES" sz="2000" dirty="0">
                    <a:solidFill>
                      <a:schemeClr val="tx1"/>
                    </a:solidFill>
                  </a:rPr>
                  <a:t>, entonces </a:t>
                </a:r>
                <a14:m>
                  <m:oMath xmlns:m="http://schemas.openxmlformats.org/officeDocument/2006/math">
                    <m:r>
                      <a:rPr lang="es-ES" sz="2000" b="1" i="1" dirty="0" smtClean="0">
                        <a:solidFill>
                          <a:schemeClr val="tx1"/>
                        </a:solidFill>
                        <a:latin typeface="Cambria Math" panose="02040503050406030204" pitchFamily="18" charset="0"/>
                      </a:rPr>
                      <m:t>𝒅𝒑</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𝒊</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𝒋</m:t>
                    </m:r>
                    <m:r>
                      <a:rPr lang="es-ES" sz="2000" b="1" i="1" dirty="0" smtClean="0">
                        <a:solidFill>
                          <a:schemeClr val="tx1"/>
                        </a:solidFill>
                        <a:latin typeface="Cambria Math" panose="02040503050406030204" pitchFamily="18" charset="0"/>
                      </a:rPr>
                      <m:t>] = </m:t>
                    </m:r>
                    <m:r>
                      <a:rPr lang="es-ES" sz="2000" b="1" i="1" dirty="0" err="1" smtClean="0">
                        <a:solidFill>
                          <a:schemeClr val="tx1"/>
                        </a:solidFill>
                        <a:latin typeface="Cambria Math" panose="02040503050406030204" pitchFamily="18" charset="0"/>
                      </a:rPr>
                      <m:t>𝒎𝒂𝒙</m:t>
                    </m:r>
                    <m:r>
                      <a:rPr lang="es-ES" sz="2000" b="1" i="1" dirty="0" smtClean="0">
                        <a:solidFill>
                          <a:schemeClr val="tx1"/>
                        </a:solidFill>
                        <a:latin typeface="Cambria Math" panose="02040503050406030204" pitchFamily="18" charset="0"/>
                      </a:rPr>
                      <m:t>⁡(</m:t>
                    </m:r>
                    <m:r>
                      <a:rPr lang="es-ES" sz="2000" b="1" i="1" dirty="0" err="1" smtClean="0">
                        <a:solidFill>
                          <a:schemeClr val="tx1"/>
                        </a:solidFill>
                        <a:latin typeface="Cambria Math" panose="02040503050406030204" pitchFamily="18" charset="0"/>
                      </a:rPr>
                      <m:t>𝒅𝒑</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𝒊</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𝒋</m:t>
                    </m:r>
                    <m:r>
                      <a:rPr lang="es-ES" sz="2000" b="1" i="1" dirty="0" smtClean="0">
                        <a:solidFill>
                          <a:schemeClr val="tx1"/>
                        </a:solidFill>
                        <a:latin typeface="Cambria Math" panose="02040503050406030204" pitchFamily="18" charset="0"/>
                      </a:rPr>
                      <m:t>],</m:t>
                    </m:r>
                    <m:r>
                      <a:rPr lang="es-ES" sz="2000" b="1" i="1" dirty="0" err="1" smtClean="0">
                        <a:solidFill>
                          <a:schemeClr val="tx1"/>
                        </a:solidFill>
                        <a:latin typeface="Cambria Math" panose="02040503050406030204" pitchFamily="18" charset="0"/>
                      </a:rPr>
                      <m:t>𝒅𝒑</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𝒊</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𝟏</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𝒋</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𝟏</m:t>
                    </m:r>
                    <m:r>
                      <a:rPr lang="es-ES" sz="2000" b="1" i="1" dirty="0" smtClean="0">
                        <a:solidFill>
                          <a:schemeClr val="tx1"/>
                        </a:solidFill>
                        <a:latin typeface="Cambria Math" panose="02040503050406030204" pitchFamily="18" charset="0"/>
                      </a:rPr>
                      <m:t>]+</m:t>
                    </m:r>
                    <m:r>
                      <a:rPr lang="es-ES" sz="2000" b="1" i="1" dirty="0" smtClean="0">
                        <a:solidFill>
                          <a:schemeClr val="tx1"/>
                        </a:solidFill>
                        <a:latin typeface="Cambria Math" panose="02040503050406030204" pitchFamily="18" charset="0"/>
                      </a:rPr>
                      <m:t>𝟏</m:t>
                    </m:r>
                    <m:r>
                      <a:rPr lang="es-ES" sz="2000" b="1" i="1" dirty="0" smtClean="0">
                        <a:solidFill>
                          <a:schemeClr val="tx1"/>
                        </a:solidFill>
                        <a:latin typeface="Cambria Math" panose="02040503050406030204" pitchFamily="18" charset="0"/>
                      </a:rPr>
                      <m:t>)</m:t>
                    </m:r>
                  </m:oMath>
                </a14:m>
                <a:endParaRPr lang="es-ES" sz="2000" b="1" dirty="0">
                  <a:solidFill>
                    <a:schemeClr val="tx1"/>
                  </a:solidFill>
                </a:endParaRPr>
              </a:p>
              <a:p>
                <a:pPr marL="0" indent="0">
                  <a:lnSpc>
                    <a:spcPct val="100000"/>
                  </a:lnSpc>
                  <a:buNone/>
                </a:pPr>
                <a:r>
                  <a:rPr lang="es-ES" sz="2000" dirty="0"/>
                  <a:t>La respuesta final sería </a:t>
                </a:r>
                <a14:m>
                  <m:oMath xmlns:m="http://schemas.openxmlformats.org/officeDocument/2006/math">
                    <m:r>
                      <a:rPr lang="es-ES" sz="2000" b="1" i="1" dirty="0" smtClean="0">
                        <a:latin typeface="Cambria Math" panose="02040503050406030204" pitchFamily="18" charset="0"/>
                      </a:rPr>
                      <m:t>𝒅𝒑</m:t>
                    </m:r>
                    <m:r>
                      <a:rPr lang="es-ES" sz="2000" b="1" i="1" dirty="0" smtClean="0">
                        <a:latin typeface="Cambria Math" panose="02040503050406030204" pitchFamily="18" charset="0"/>
                      </a:rPr>
                      <m:t>[</m:t>
                    </m:r>
                    <m:r>
                      <a:rPr lang="es-ES" sz="2000" b="1" i="1" dirty="0" smtClean="0">
                        <a:latin typeface="Cambria Math" panose="02040503050406030204" pitchFamily="18" charset="0"/>
                      </a:rPr>
                      <m:t>𝒏</m:t>
                    </m:r>
                    <m:r>
                      <a:rPr lang="es-ES" sz="2000" b="1" i="1" dirty="0" smtClean="0">
                        <a:latin typeface="Cambria Math" panose="02040503050406030204" pitchFamily="18" charset="0"/>
                      </a:rPr>
                      <m:t>][</m:t>
                    </m:r>
                    <m:r>
                      <a:rPr lang="es-ES" sz="2000" b="1" i="1" dirty="0" smtClean="0">
                        <a:latin typeface="Cambria Math" panose="02040503050406030204" pitchFamily="18" charset="0"/>
                      </a:rPr>
                      <m:t>𝒎</m:t>
                    </m:r>
                    <m:r>
                      <a:rPr lang="es-ES" sz="2000" b="1" i="1" dirty="0" smtClean="0">
                        <a:latin typeface="Cambria Math" panose="02040503050406030204" pitchFamily="18" charset="0"/>
                      </a:rPr>
                      <m:t>]</m:t>
                    </m:r>
                  </m:oMath>
                </a14:m>
                <a:endParaRPr lang="es-ES" sz="2000" b="1" dirty="0">
                  <a:solidFill>
                    <a:schemeClr val="tx1"/>
                  </a:solidFill>
                </a:endParaRPr>
              </a:p>
            </p:txBody>
          </p:sp>
        </mc:Choice>
        <mc:Fallback>
          <p:sp>
            <p:nvSpPr>
              <p:cNvPr id="3" name="Content Placeholder 2">
                <a:extLst>
                  <a:ext uri="{FF2B5EF4-FFF2-40B4-BE49-F238E27FC236}">
                    <a16:creationId xmlns:a16="http://schemas.microsoft.com/office/drawing/2014/main" id="{AB7F268D-EDEE-FE57-D4A8-58A28E85D548}"/>
                  </a:ext>
                </a:extLst>
              </p:cNvPr>
              <p:cNvSpPr>
                <a:spLocks noGrp="1" noRot="1" noChangeAspect="1" noMove="1" noResize="1" noEditPoints="1" noAdjustHandles="1" noChangeArrowheads="1" noChangeShapeType="1" noTextEdit="1"/>
              </p:cNvSpPr>
              <p:nvPr>
                <p:ph idx="1"/>
              </p:nvPr>
            </p:nvSpPr>
            <p:spPr>
              <a:xfrm>
                <a:off x="1371598" y="2327433"/>
                <a:ext cx="9723600" cy="3683358"/>
              </a:xfrm>
              <a:blipFill>
                <a:blip r:embed="rId4"/>
                <a:stretch>
                  <a:fillRect l="-627" r="-502" b="-2483"/>
                </a:stretch>
              </a:blipFill>
            </p:spPr>
            <p:txBody>
              <a:bodyPr/>
              <a:lstStyle/>
              <a:p>
                <a:r>
                  <a:rPr lang="en-US">
                    <a:noFill/>
                  </a:rPr>
                  <a:t> </a:t>
                </a:r>
              </a:p>
            </p:txBody>
          </p:sp>
        </mc:Fallback>
      </mc:AlternateContent>
    </p:spTree>
    <p:extLst>
      <p:ext uri="{BB962C8B-B14F-4D97-AF65-F5344CB8AC3E}">
        <p14:creationId xmlns:p14="http://schemas.microsoft.com/office/powerpoint/2010/main" val="150979549"/>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A064AE-2745-33BE-4126-5E3C15E6EED6}"/>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B72FDAD-C01E-30DA-7E66-8B1AF8D475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14D8A58C-FCED-84E6-A644-E5A232D643F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4B45AF7A-0F57-168D-F387-828F5979284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C8F5AAC-04A7-AD48-707C-17B8FAC19B6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6C081F0C-CE77-292D-87AE-5050D0FE0A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1B43E2E-FCA7-6D26-03EE-4E7978B1C838}"/>
              </a:ext>
            </a:extLst>
          </p:cNvPr>
          <p:cNvSpPr>
            <a:spLocks noGrp="1"/>
          </p:cNvSpPr>
          <p:nvPr>
            <p:ph type="title"/>
          </p:nvPr>
        </p:nvSpPr>
        <p:spPr>
          <a:xfrm>
            <a:off x="1371599" y="294538"/>
            <a:ext cx="9895951" cy="1033669"/>
          </a:xfrm>
        </p:spPr>
        <p:txBody>
          <a:bodyPr>
            <a:normAutofit/>
          </a:bodyPr>
          <a:lstStyle/>
          <a:p>
            <a:r>
              <a:rPr lang="es-AR" sz="4000" dirty="0" err="1">
                <a:solidFill>
                  <a:srgbClr val="FFFFFF"/>
                </a:solidFill>
              </a:rPr>
              <a:t>Longest</a:t>
            </a:r>
            <a:r>
              <a:rPr lang="es-AR" sz="4000" dirty="0">
                <a:solidFill>
                  <a:srgbClr val="FFFFFF"/>
                </a:solidFill>
              </a:rPr>
              <a:t> </a:t>
            </a:r>
            <a:r>
              <a:rPr lang="es-AR" sz="4000" dirty="0" err="1">
                <a:solidFill>
                  <a:srgbClr val="FFFFFF"/>
                </a:solidFill>
              </a:rPr>
              <a:t>Increasing</a:t>
            </a:r>
            <a:r>
              <a:rPr lang="es-AR" sz="4000" dirty="0">
                <a:solidFill>
                  <a:srgbClr val="FFFFFF"/>
                </a:solidFill>
              </a:rPr>
              <a:t> </a:t>
            </a:r>
            <a:r>
              <a:rPr lang="es-AR" sz="4000" dirty="0" err="1">
                <a:solidFill>
                  <a:srgbClr val="FFFFFF"/>
                </a:solidFill>
              </a:rPr>
              <a:t>Subsquence</a:t>
            </a:r>
            <a:r>
              <a:rPr lang="es-AR" sz="4000" dirty="0">
                <a:solidFill>
                  <a:srgbClr val="FFFFFF"/>
                </a:solidFill>
              </a:rPr>
              <a:t> (LIS)</a:t>
            </a:r>
            <a:endParaRPr lang="en-US" sz="4000" dirty="0">
              <a:solidFill>
                <a:srgbClr val="FFFFFF"/>
              </a:solidFill>
            </a:endParaRPr>
          </a:p>
        </p:txBody>
      </p:sp>
      <mc:AlternateContent xmlns:mc="http://schemas.openxmlformats.org/markup-compatibility/2006">
        <mc:Choice xmlns:a14="http://schemas.microsoft.com/office/drawing/2010/main" Requires="a14">
          <p:sp>
            <p:nvSpPr>
              <p:cNvPr id="3" name="Content Placeholder 2">
                <a:extLst>
                  <a:ext uri="{FF2B5EF4-FFF2-40B4-BE49-F238E27FC236}">
                    <a16:creationId xmlns:a16="http://schemas.microsoft.com/office/drawing/2014/main" id="{E4E225E1-6B8D-0CB3-AEBE-8062D1BAB9F1}"/>
                  </a:ext>
                </a:extLst>
              </p:cNvPr>
              <p:cNvSpPr>
                <a:spLocks noGrp="1"/>
              </p:cNvSpPr>
              <p:nvPr>
                <p:ph idx="1"/>
              </p:nvPr>
            </p:nvSpPr>
            <p:spPr>
              <a:xfrm>
                <a:off x="1371598" y="2327433"/>
                <a:ext cx="9723600" cy="3683358"/>
              </a:xfrm>
            </p:spPr>
            <p:txBody>
              <a:bodyPr tIns="108000" bIns="108000" anchor="t" anchorCtr="0">
                <a:noAutofit/>
              </a:bodyPr>
              <a:lstStyle/>
              <a:p>
                <a:pPr marL="0" indent="0">
                  <a:lnSpc>
                    <a:spcPct val="150000"/>
                  </a:lnSpc>
                  <a:spcBef>
                    <a:spcPts val="0"/>
                  </a:spcBef>
                  <a:buNone/>
                </a:pPr>
                <a:r>
                  <a:rPr lang="es-ES" sz="2000" b="1" u="sng" dirty="0">
                    <a:solidFill>
                      <a:schemeClr val="tx1"/>
                    </a:solidFill>
                  </a:rPr>
                  <a:t>Solución</a:t>
                </a:r>
              </a:p>
              <a:p>
                <a:pPr marL="0" indent="0">
                  <a:lnSpc>
                    <a:spcPct val="150000"/>
                  </a:lnSpc>
                  <a:spcBef>
                    <a:spcPts val="0"/>
                  </a:spcBef>
                  <a:buNone/>
                </a:pPr>
                <a:r>
                  <a:rPr lang="es-ES" sz="2000" dirty="0"/>
                  <a:t>Complejidad en memoria: </a:t>
                </a:r>
                <a14:m>
                  <m:oMath xmlns:m="http://schemas.openxmlformats.org/officeDocument/2006/math">
                    <m:r>
                      <a:rPr lang="es-ES" sz="2000" b="1" i="1" dirty="0" smtClean="0">
                        <a:latin typeface="Cambria Math" panose="02040503050406030204" pitchFamily="18" charset="0"/>
                      </a:rPr>
                      <m:t>𝑶</m:t>
                    </m:r>
                    <m:r>
                      <a:rPr lang="es-ES" sz="2000" b="1" i="1" dirty="0" smtClean="0">
                        <a:latin typeface="Cambria Math" panose="02040503050406030204" pitchFamily="18" charset="0"/>
                      </a:rPr>
                      <m:t>(</m:t>
                    </m:r>
                    <m:sSup>
                      <m:sSupPr>
                        <m:ctrlPr>
                          <a:rPr lang="es-AR" sz="2000" b="1" i="1" dirty="0" smtClean="0">
                            <a:latin typeface="Cambria Math" panose="02040503050406030204" pitchFamily="18" charset="0"/>
                          </a:rPr>
                        </m:ctrlPr>
                      </m:sSupPr>
                      <m:e>
                        <m:r>
                          <a:rPr lang="es-ES" sz="2000" b="1" i="1" dirty="0" smtClean="0">
                            <a:latin typeface="Cambria Math" panose="02040503050406030204" pitchFamily="18" charset="0"/>
                          </a:rPr>
                          <m:t>𝒏</m:t>
                        </m:r>
                      </m:e>
                      <m:sup>
                        <m:r>
                          <a:rPr lang="es-AR" sz="2000" b="1" i="1" dirty="0" smtClean="0">
                            <a:latin typeface="Cambria Math" panose="02040503050406030204" pitchFamily="18" charset="0"/>
                          </a:rPr>
                          <m:t>𝟐</m:t>
                        </m:r>
                      </m:sup>
                    </m:sSup>
                    <m:r>
                      <a:rPr lang="es-ES" sz="2000" b="1" i="1" dirty="0" smtClean="0">
                        <a:latin typeface="Cambria Math" panose="02040503050406030204" pitchFamily="18" charset="0"/>
                      </a:rPr>
                      <m:t>)</m:t>
                    </m:r>
                  </m:oMath>
                </a14:m>
                <a:endParaRPr lang="es-ES" sz="2000" b="1" dirty="0">
                  <a:solidFill>
                    <a:schemeClr val="tx1"/>
                  </a:solidFill>
                </a:endParaRPr>
              </a:p>
              <a:p>
                <a:pPr marL="0" indent="0">
                  <a:lnSpc>
                    <a:spcPct val="150000"/>
                  </a:lnSpc>
                  <a:spcBef>
                    <a:spcPts val="0"/>
                  </a:spcBef>
                  <a:buNone/>
                </a:pPr>
                <a:r>
                  <a:rPr lang="es-ES" sz="2000" dirty="0">
                    <a:solidFill>
                      <a:schemeClr val="tx1"/>
                    </a:solidFill>
                  </a:rPr>
                  <a:t>Complejidad </a:t>
                </a:r>
                <a:r>
                  <a:rPr lang="es-ES" sz="2000" dirty="0"/>
                  <a:t>en tiempo de ejecución: </a:t>
                </a:r>
                <a14:m>
                  <m:oMath xmlns:m="http://schemas.openxmlformats.org/officeDocument/2006/math">
                    <m:r>
                      <a:rPr lang="es-ES" sz="2000" b="1" i="1" dirty="0" smtClean="0">
                        <a:latin typeface="Cambria Math" panose="02040503050406030204" pitchFamily="18" charset="0"/>
                      </a:rPr>
                      <m:t>𝑶</m:t>
                    </m:r>
                    <m:d>
                      <m:dPr>
                        <m:ctrlPr>
                          <a:rPr lang="es-ES" sz="2000" b="1" i="1" dirty="0" smtClean="0">
                            <a:latin typeface="Cambria Math" panose="02040503050406030204" pitchFamily="18" charset="0"/>
                          </a:rPr>
                        </m:ctrlPr>
                      </m:dPr>
                      <m:e>
                        <m:sSup>
                          <m:sSupPr>
                            <m:ctrlPr>
                              <a:rPr lang="es-ES" sz="2000" b="1" i="1" dirty="0" smtClean="0">
                                <a:latin typeface="Cambria Math" panose="02040503050406030204" pitchFamily="18" charset="0"/>
                              </a:rPr>
                            </m:ctrlPr>
                          </m:sSupPr>
                          <m:e>
                            <m:r>
                              <a:rPr lang="es-ES" sz="2000" b="1" i="1" dirty="0" smtClean="0">
                                <a:latin typeface="Cambria Math" panose="02040503050406030204" pitchFamily="18" charset="0"/>
                              </a:rPr>
                              <m:t>𝒏</m:t>
                            </m:r>
                          </m:e>
                          <m:sup>
                            <m:r>
                              <a:rPr lang="es-ES" sz="2000" b="1" i="1" dirty="0" smtClean="0">
                                <a:latin typeface="Cambria Math" panose="02040503050406030204" pitchFamily="18" charset="0"/>
                              </a:rPr>
                              <m:t>𝟐</m:t>
                            </m:r>
                          </m:sup>
                        </m:sSup>
                      </m:e>
                    </m:d>
                  </m:oMath>
                </a14:m>
                <a:endParaRPr lang="es-AR" sz="2000" b="1" dirty="0"/>
              </a:p>
              <a:p>
                <a:pPr marL="0" indent="0">
                  <a:lnSpc>
                    <a:spcPct val="150000"/>
                  </a:lnSpc>
                  <a:spcBef>
                    <a:spcPts val="0"/>
                  </a:spcBef>
                  <a:buNone/>
                </a:pPr>
                <a:endParaRPr lang="es-ES" sz="2000" b="1" dirty="0"/>
              </a:p>
              <a:p>
                <a:pPr marL="0" indent="0">
                  <a:lnSpc>
                    <a:spcPct val="150000"/>
                  </a:lnSpc>
                  <a:spcBef>
                    <a:spcPts val="0"/>
                  </a:spcBef>
                  <a:buNone/>
                </a:pPr>
                <a:r>
                  <a:rPr lang="es-ES" sz="2000" b="1" u="sng" dirty="0">
                    <a:solidFill>
                      <a:schemeClr val="tx1"/>
                    </a:solidFill>
                  </a:rPr>
                  <a:t>Desafío</a:t>
                </a:r>
              </a:p>
              <a:p>
                <a:pPr marL="0" indent="0">
                  <a:lnSpc>
                    <a:spcPct val="150000"/>
                  </a:lnSpc>
                  <a:spcBef>
                    <a:spcPts val="0"/>
                  </a:spcBef>
                  <a:buNone/>
                </a:pPr>
                <a:r>
                  <a:rPr lang="es-ES" sz="2000" dirty="0">
                    <a:solidFill>
                      <a:schemeClr val="tx1"/>
                    </a:solidFill>
                  </a:rPr>
                  <a:t>Implementar la solución co</a:t>
                </a:r>
                <a:r>
                  <a:rPr lang="es-ES" sz="2000" dirty="0"/>
                  <a:t>n memoria </a:t>
                </a:r>
                <a14:m>
                  <m:oMath xmlns:m="http://schemas.openxmlformats.org/officeDocument/2006/math">
                    <m:r>
                      <a:rPr lang="es-ES" sz="2000" b="1" i="1" dirty="0" smtClean="0">
                        <a:latin typeface="Cambria Math" panose="02040503050406030204" pitchFamily="18" charset="0"/>
                      </a:rPr>
                      <m:t>𝑶</m:t>
                    </m:r>
                    <m:r>
                      <a:rPr lang="es-ES" sz="2000" b="1" i="1" dirty="0" smtClean="0">
                        <a:latin typeface="Cambria Math" panose="02040503050406030204" pitchFamily="18" charset="0"/>
                      </a:rPr>
                      <m:t>(</m:t>
                    </m:r>
                    <m:r>
                      <a:rPr lang="es-ES" sz="2000" b="1" i="1" dirty="0" smtClean="0">
                        <a:latin typeface="Cambria Math" panose="02040503050406030204" pitchFamily="18" charset="0"/>
                      </a:rPr>
                      <m:t>𝒏</m:t>
                    </m:r>
                    <m:r>
                      <a:rPr lang="es-ES" sz="2000" b="1" i="1" dirty="0" smtClean="0">
                        <a:latin typeface="Cambria Math" panose="02040503050406030204" pitchFamily="18" charset="0"/>
                      </a:rPr>
                      <m:t>)</m:t>
                    </m:r>
                  </m:oMath>
                </a14:m>
                <a:endParaRPr lang="es-ES" sz="2000" b="1" dirty="0">
                  <a:solidFill>
                    <a:schemeClr val="tx1"/>
                  </a:solidFill>
                </a:endParaRPr>
              </a:p>
            </p:txBody>
          </p:sp>
        </mc:Choice>
        <mc:Fallback>
          <p:sp>
            <p:nvSpPr>
              <p:cNvPr id="3" name="Content Placeholder 2">
                <a:extLst>
                  <a:ext uri="{FF2B5EF4-FFF2-40B4-BE49-F238E27FC236}">
                    <a16:creationId xmlns:a16="http://schemas.microsoft.com/office/drawing/2014/main" id="{E4E225E1-6B8D-0CB3-AEBE-8062D1BAB9F1}"/>
                  </a:ext>
                </a:extLst>
              </p:cNvPr>
              <p:cNvSpPr>
                <a:spLocks noGrp="1" noRot="1" noChangeAspect="1" noMove="1" noResize="1" noEditPoints="1" noAdjustHandles="1" noChangeArrowheads="1" noChangeShapeType="1" noTextEdit="1"/>
              </p:cNvSpPr>
              <p:nvPr>
                <p:ph idx="1"/>
              </p:nvPr>
            </p:nvSpPr>
            <p:spPr>
              <a:xfrm>
                <a:off x="1371598" y="2327433"/>
                <a:ext cx="9723600" cy="3683358"/>
              </a:xfrm>
              <a:blipFill>
                <a:blip r:embed="rId4"/>
                <a:stretch>
                  <a:fillRect l="-627"/>
                </a:stretch>
              </a:blipFill>
            </p:spPr>
            <p:txBody>
              <a:bodyPr/>
              <a:lstStyle/>
              <a:p>
                <a:r>
                  <a:rPr lang="en-US">
                    <a:noFill/>
                  </a:rPr>
                  <a:t> </a:t>
                </a:r>
              </a:p>
            </p:txBody>
          </p:sp>
        </mc:Fallback>
      </mc:AlternateContent>
    </p:spTree>
    <p:extLst>
      <p:ext uri="{BB962C8B-B14F-4D97-AF65-F5344CB8AC3E}">
        <p14:creationId xmlns:p14="http://schemas.microsoft.com/office/powerpoint/2010/main" val="298163059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19.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0.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1.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2.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3.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4.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5.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6.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7.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ppt/theme/themeOverride28.xml><?xml version="1.0" encoding="utf-8"?>
<a:themeOverride xmlns:a="http://schemas.openxmlformats.org/drawingml/2006/main">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themeOverride>
</file>

<file path=docProps/app.xml><?xml version="1.0" encoding="utf-8"?>
<Properties xmlns="http://schemas.openxmlformats.org/officeDocument/2006/extended-properties" xmlns:vt="http://schemas.openxmlformats.org/officeDocument/2006/docPropsVTypes">
  <Template>TM04033921[[fn=Damask]]</Template>
  <TotalTime>330</TotalTime>
  <Words>1751</Words>
  <Application>Microsoft Office PowerPoint</Application>
  <PresentationFormat>Widescreen</PresentationFormat>
  <Paragraphs>204</Paragraphs>
  <Slides>31</Slides>
  <Notes>16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31</vt:i4>
      </vt:variant>
    </vt:vector>
  </HeadingPairs>
  <TitlesOfParts>
    <vt:vector size="37" baseType="lpstr">
      <vt:lpstr>Aptos</vt:lpstr>
      <vt:lpstr>Aptos Display</vt:lpstr>
      <vt:lpstr>Arial</vt:lpstr>
      <vt:lpstr>Cambria Math</vt:lpstr>
      <vt:lpstr>Wingdings</vt:lpstr>
      <vt:lpstr>Office Theme</vt:lpstr>
      <vt:lpstr>Programación Dinámica</vt:lpstr>
      <vt:lpstr>¿Qué es la programación dinámica?</vt:lpstr>
      <vt:lpstr>¿Qué es la programación dinámica?</vt:lpstr>
      <vt:lpstr>¿Qué es la programación dinámica?</vt:lpstr>
      <vt:lpstr>Veamos un problema de ejemplo …</vt:lpstr>
      <vt:lpstr>Resolución con DP</vt:lpstr>
      <vt:lpstr>Resolución con DP</vt:lpstr>
      <vt:lpstr>Resolución con DP</vt:lpstr>
      <vt:lpstr>Resolución con DP</vt:lpstr>
      <vt:lpstr>Resolución con DP</vt:lpstr>
      <vt:lpstr>Resolución con DP</vt:lpstr>
      <vt:lpstr>Resolución con DP</vt:lpstr>
      <vt:lpstr>Resolución con DP</vt:lpstr>
      <vt:lpstr>Resolución con DP</vt:lpstr>
      <vt:lpstr>Resolución con DP</vt:lpstr>
      <vt:lpstr>¿Qué es la programación dinámica?</vt:lpstr>
      <vt:lpstr>¿Cuándo aplicamos Programación Dinámica?</vt:lpstr>
      <vt:lpstr>Técnicas de implementación</vt:lpstr>
      <vt:lpstr>Ejemplo de Bottom-Up</vt:lpstr>
      <vt:lpstr>Ejemplo de Bottom-Up</vt:lpstr>
      <vt:lpstr>Ejemplo de Top-Down</vt:lpstr>
      <vt:lpstr>Ejemplo de Top-Down</vt:lpstr>
      <vt:lpstr>Ejemplo de Top-Down</vt:lpstr>
      <vt:lpstr>Ejemplo de Top-Down</vt:lpstr>
      <vt:lpstr>Algunos problemas clásicos de DP</vt:lpstr>
      <vt:lpstr>Longest Increasing Subsquence (LIS)</vt:lpstr>
      <vt:lpstr>Longest Increasing Subsquence (LIS)</vt:lpstr>
      <vt:lpstr>Longest Increasing Subsquence (LIS)</vt:lpstr>
      <vt:lpstr>Longest Common Subsquence (LCS)</vt:lpstr>
      <vt:lpstr>Longest Common Subsquence (LCS)</vt:lpstr>
      <vt:lpstr>Longest Increasing Subsquence (LIS)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Matias Fluxa</dc:creator>
  <cp:lastModifiedBy>Matias Fluxa</cp:lastModifiedBy>
  <cp:revision>14</cp:revision>
  <dcterms:created xsi:type="dcterms:W3CDTF">2025-09-21T21:04:38Z</dcterms:created>
  <dcterms:modified xsi:type="dcterms:W3CDTF">2025-09-22T04:25:29Z</dcterms:modified>
</cp:coreProperties>
</file>